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6.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7.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8.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Ex1.xml" ContentType="application/vnd.ms-office.chartex+xml"/>
  <Override PartName="/ppt/charts/style10.xml" ContentType="application/vnd.ms-office.chartstyle+xml"/>
  <Override PartName="/ppt/charts/colors10.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61" r:id="rId5"/>
    <p:sldId id="262" r:id="rId6"/>
    <p:sldId id="263" r:id="rId7"/>
    <p:sldId id="264" r:id="rId8"/>
    <p:sldId id="265" r:id="rId9"/>
    <p:sldId id="266" r:id="rId10"/>
  </p:sldIdLst>
  <p:sldSz cx="14630400" cy="8229600"/>
  <p:notesSz cx="8229600" cy="14630400"/>
  <p:embeddedFontLst>
    <p:embeddedFont>
      <p:font typeface="Sora Light" panose="020B0604020202020204" charset="0"/>
      <p:regular r:id="rId12"/>
    </p:embeddedFont>
    <p:embeddedFont>
      <p:font typeface="Sora Semi Bold"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75" d="100"/>
          <a:sy n="75" d="100"/>
        </p:scale>
        <p:origin x="37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0e72987a53845f08/Streaming%20Services_Kiran%20Patel.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0e72987a53845f08/Streaming%20Services_Kiran%20Patel.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0e72987a53845f08/Streaming%20Services_Kiran%20Patel.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0e72987a53845f08/Streaming%20Services_Kiran%20Patel.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0e72987a53845f08/Streaming%20Services_Kiran%20Patel.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0e72987a53845f08/Streaming%20Services_Kiran%20Patel.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d.docs.live.net/0e72987a53845f08/Streaming%20Services_Kiran%20Patel.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d.docs.live.net/0e72987a53845f08/Streaming%20Services_Kiran%20Patel.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https://d.docs.live.net/0e72987a53845f08/Streaming%20Services_Kiran%20Patel.xlsx" TargetMode="External"/><Relationship Id="rId2" Type="http://schemas.microsoft.com/office/2011/relationships/chartColorStyle" Target="colors9.xml"/><Relationship Id="rId1" Type="http://schemas.microsoft.com/office/2011/relationships/chartStyle" Target="style9.xml"/></Relationships>
</file>

<file path=ppt/charts/_rels/chartEx1.xml.rels><?xml version="1.0" encoding="UTF-8" standalone="yes"?>
<Relationships xmlns="http://schemas.openxmlformats.org/package/2006/relationships"><Relationship Id="rId3" Type="http://schemas.microsoft.com/office/2011/relationships/chartColorStyle" Target="colors10.xml"/><Relationship Id="rId2" Type="http://schemas.microsoft.com/office/2011/relationships/chartStyle" Target="style10.xml"/><Relationship Id="rId1" Type="http://schemas.openxmlformats.org/officeDocument/2006/relationships/oleObject" Target="https://d.docs.live.net/0e72987a53845f08/Streaming%20Services_Kiran%20Patel.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[Streaming Services_Kiran Patel.xlsx]Pivot_Tables !PivotTable1</c:name>
    <c:fmtId val="7"/>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a:t>Revenue by Subscription Category</a:t>
            </a:r>
            <a:endParaRPr lang="en-IN"/>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'Pivot_Tables '!$B$1</c:f>
              <c:strCache>
                <c:ptCount val="1"/>
                <c:pt idx="0">
                  <c:v>Total Users</c:v>
                </c:pt>
              </c:strCache>
            </c:strRef>
          </c:tx>
          <c:spPr>
            <a:solidFill>
              <a:schemeClr val="accent1"/>
            </a:solidFill>
            <a:ln>
              <a:noFill/>
            </a:ln>
            <a:effectLst/>
          </c:spPr>
          <c:invertIfNegative val="0"/>
          <c:cat>
            <c:strRef>
              <c:f>'Pivot_Tables '!$A$2:$A$4</c:f>
              <c:strCache>
                <c:ptCount val="2"/>
                <c:pt idx="0">
                  <c:v>Basic</c:v>
                </c:pt>
                <c:pt idx="1">
                  <c:v>Premium</c:v>
                </c:pt>
              </c:strCache>
            </c:strRef>
          </c:cat>
          <c:val>
            <c:numRef>
              <c:f>'Pivot_Tables '!$B$2:$B$4</c:f>
              <c:numCache>
                <c:formatCode>General</c:formatCode>
                <c:ptCount val="2"/>
                <c:pt idx="0">
                  <c:v>323</c:v>
                </c:pt>
                <c:pt idx="1">
                  <c:v>677</c:v>
                </c:pt>
              </c:numCache>
            </c:numRef>
          </c:val>
          <c:extLst>
            <c:ext xmlns:c16="http://schemas.microsoft.com/office/drawing/2014/chart" uri="{C3380CC4-5D6E-409C-BE32-E72D297353CC}">
              <c16:uniqueId val="{00000000-E7EB-44D6-8734-E4F13BEB11EB}"/>
            </c:ext>
          </c:extLst>
        </c:ser>
        <c:ser>
          <c:idx val="1"/>
          <c:order val="1"/>
          <c:tx>
            <c:strRef>
              <c:f>'Pivot_Tables '!$C$1</c:f>
              <c:strCache>
                <c:ptCount val="1"/>
                <c:pt idx="0">
                  <c:v>Total Revenue</c:v>
                </c:pt>
              </c:strCache>
            </c:strRef>
          </c:tx>
          <c:spPr>
            <a:solidFill>
              <a:schemeClr val="accent2"/>
            </a:solidFill>
            <a:ln>
              <a:noFill/>
            </a:ln>
            <a:effectLst/>
          </c:spPr>
          <c:invertIfNegative val="0"/>
          <c:cat>
            <c:strRef>
              <c:f>'Pivot_Tables '!$A$2:$A$4</c:f>
              <c:strCache>
                <c:ptCount val="2"/>
                <c:pt idx="0">
                  <c:v>Basic</c:v>
                </c:pt>
                <c:pt idx="1">
                  <c:v>Premium</c:v>
                </c:pt>
              </c:strCache>
            </c:strRef>
          </c:cat>
          <c:val>
            <c:numRef>
              <c:f>'Pivot_Tables '!$C$2:$C$4</c:f>
              <c:numCache>
                <c:formatCode>_("$"* #,##0.00_);_("$"* \(#,##0.00\);_("$"* "-"??_);_(@_)</c:formatCode>
                <c:ptCount val="2"/>
                <c:pt idx="0">
                  <c:v>2580.7699999999877</c:v>
                </c:pt>
                <c:pt idx="1">
                  <c:v>9445.2299999998868</c:v>
                </c:pt>
              </c:numCache>
            </c:numRef>
          </c:val>
          <c:extLst>
            <c:ext xmlns:c16="http://schemas.microsoft.com/office/drawing/2014/chart" uri="{C3380CC4-5D6E-409C-BE32-E72D297353CC}">
              <c16:uniqueId val="{00000001-E7EB-44D6-8734-E4F13BEB11EB}"/>
            </c:ext>
          </c:extLst>
        </c:ser>
        <c:dLbls>
          <c:showLegendKey val="0"/>
          <c:showVal val="0"/>
          <c:showCatName val="0"/>
          <c:showSerName val="0"/>
          <c:showPercent val="0"/>
          <c:showBubbleSize val="0"/>
        </c:dLbls>
        <c:gapWidth val="219"/>
        <c:overlap val="-27"/>
        <c:axId val="1204435408"/>
        <c:axId val="1204443088"/>
      </c:barChart>
      <c:catAx>
        <c:axId val="1204435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04443088"/>
        <c:crosses val="autoZero"/>
        <c:auto val="1"/>
        <c:lblAlgn val="ctr"/>
        <c:lblOffset val="100"/>
        <c:noMultiLvlLbl val="0"/>
      </c:catAx>
      <c:valAx>
        <c:axId val="120444308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044354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[Streaming Services_Kiran Patel.xlsx]Pivot_Tables !PivotTable8</c:name>
    <c:fmtId val="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a:t>Movies vs. Series Watched per User</a:t>
            </a:r>
            <a:endParaRPr lang="en-IN"/>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'Pivot_Tables '!$R$7</c:f>
              <c:strCache>
                <c:ptCount val="1"/>
                <c:pt idx="0">
                  <c:v>Sum of Total_Series_Watched</c:v>
                </c:pt>
              </c:strCache>
            </c:strRef>
          </c:tx>
          <c:spPr>
            <a:solidFill>
              <a:schemeClr val="accent1"/>
            </a:solidFill>
            <a:ln>
              <a:noFill/>
            </a:ln>
            <a:effectLst/>
          </c:spPr>
          <c:invertIfNegative val="0"/>
          <c:cat>
            <c:strRef>
              <c:f>'Pivot_Tables '!$Q$8:$Q$14</c:f>
              <c:strCache>
                <c:ptCount val="6"/>
                <c:pt idx="0">
                  <c:v>18-24</c:v>
                </c:pt>
                <c:pt idx="1">
                  <c:v>25-34</c:v>
                </c:pt>
                <c:pt idx="2">
                  <c:v>35-44</c:v>
                </c:pt>
                <c:pt idx="3">
                  <c:v>45-54</c:v>
                </c:pt>
                <c:pt idx="4">
                  <c:v>55+</c:v>
                </c:pt>
                <c:pt idx="5">
                  <c:v>(blank)</c:v>
                </c:pt>
              </c:strCache>
            </c:strRef>
          </c:cat>
          <c:val>
            <c:numRef>
              <c:f>'Pivot_Tables '!$R$8:$R$14</c:f>
              <c:numCache>
                <c:formatCode>General</c:formatCode>
                <c:ptCount val="6"/>
                <c:pt idx="0">
                  <c:v>19790</c:v>
                </c:pt>
                <c:pt idx="1">
                  <c:v>18631</c:v>
                </c:pt>
                <c:pt idx="2">
                  <c:v>20452</c:v>
                </c:pt>
                <c:pt idx="3">
                  <c:v>22023</c:v>
                </c:pt>
                <c:pt idx="4">
                  <c:v>18850</c:v>
                </c:pt>
              </c:numCache>
            </c:numRef>
          </c:val>
          <c:extLst>
            <c:ext xmlns:c16="http://schemas.microsoft.com/office/drawing/2014/chart" uri="{C3380CC4-5D6E-409C-BE32-E72D297353CC}">
              <c16:uniqueId val="{00000000-E1B1-4ADD-9E65-35BDAFA908C2}"/>
            </c:ext>
          </c:extLst>
        </c:ser>
        <c:ser>
          <c:idx val="1"/>
          <c:order val="1"/>
          <c:tx>
            <c:strRef>
              <c:f>'Pivot_Tables '!$S$7</c:f>
              <c:strCache>
                <c:ptCount val="1"/>
                <c:pt idx="0">
                  <c:v>Sum of Total_Movies_Watched</c:v>
                </c:pt>
              </c:strCache>
            </c:strRef>
          </c:tx>
          <c:spPr>
            <a:solidFill>
              <a:schemeClr val="accent2"/>
            </a:solidFill>
            <a:ln>
              <a:noFill/>
            </a:ln>
            <a:effectLst/>
          </c:spPr>
          <c:invertIfNegative val="0"/>
          <c:cat>
            <c:strRef>
              <c:f>'Pivot_Tables '!$Q$8:$Q$14</c:f>
              <c:strCache>
                <c:ptCount val="6"/>
                <c:pt idx="0">
                  <c:v>18-24</c:v>
                </c:pt>
                <c:pt idx="1">
                  <c:v>25-34</c:v>
                </c:pt>
                <c:pt idx="2">
                  <c:v>35-44</c:v>
                </c:pt>
                <c:pt idx="3">
                  <c:v>45-54</c:v>
                </c:pt>
                <c:pt idx="4">
                  <c:v>55+</c:v>
                </c:pt>
                <c:pt idx="5">
                  <c:v>(blank)</c:v>
                </c:pt>
              </c:strCache>
            </c:strRef>
          </c:cat>
          <c:val>
            <c:numRef>
              <c:f>'Pivot_Tables '!$S$8:$S$14</c:f>
              <c:numCache>
                <c:formatCode>General</c:formatCode>
                <c:ptCount val="6"/>
                <c:pt idx="0">
                  <c:v>94100</c:v>
                </c:pt>
                <c:pt idx="1">
                  <c:v>100542</c:v>
                </c:pt>
                <c:pt idx="2">
                  <c:v>110132</c:v>
                </c:pt>
                <c:pt idx="3">
                  <c:v>104205</c:v>
                </c:pt>
                <c:pt idx="4">
                  <c:v>106918</c:v>
                </c:pt>
              </c:numCache>
            </c:numRef>
          </c:val>
          <c:extLst>
            <c:ext xmlns:c16="http://schemas.microsoft.com/office/drawing/2014/chart" uri="{C3380CC4-5D6E-409C-BE32-E72D297353CC}">
              <c16:uniqueId val="{00000001-E1B1-4ADD-9E65-35BDAFA908C2}"/>
            </c:ext>
          </c:extLst>
        </c:ser>
        <c:dLbls>
          <c:showLegendKey val="0"/>
          <c:showVal val="0"/>
          <c:showCatName val="0"/>
          <c:showSerName val="0"/>
          <c:showPercent val="0"/>
          <c:showBubbleSize val="0"/>
        </c:dLbls>
        <c:gapWidth val="219"/>
        <c:overlap val="-27"/>
        <c:axId val="667599408"/>
        <c:axId val="667594608"/>
      </c:barChart>
      <c:catAx>
        <c:axId val="667599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7594608"/>
        <c:crosses val="autoZero"/>
        <c:auto val="1"/>
        <c:lblAlgn val="ctr"/>
        <c:lblOffset val="100"/>
        <c:noMultiLvlLbl val="0"/>
      </c:catAx>
      <c:valAx>
        <c:axId val="6675946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759940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[Streaming Services_Kiran Patel.xlsx]Pivot_Tables !PivotTable9</c:name>
    <c:fmtId val="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b="1" u="sng" dirty="0"/>
              <a:t>Impact of recommended content on engagement</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'Pivot_Tables '!$W$7</c:f>
              <c:strCache>
                <c:ptCount val="1"/>
                <c:pt idx="0">
                  <c:v>Total</c:v>
                </c:pt>
              </c:strCache>
            </c:strRef>
          </c:tx>
          <c:spPr>
            <a:ln w="28575" cap="rnd">
              <a:solidFill>
                <a:schemeClr val="accent1"/>
              </a:solidFill>
              <a:round/>
            </a:ln>
            <a:effectLst/>
          </c:spPr>
          <c:marker>
            <c:symbol val="none"/>
          </c:marker>
          <c:cat>
            <c:strRef>
              <c:f>'Pivot_Tables '!$V$8:$V$110</c:f>
              <c:strCache>
                <c:ptCount val="102"/>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(blank)</c:v>
                </c:pt>
              </c:strCache>
            </c:strRef>
          </c:cat>
          <c:val>
            <c:numRef>
              <c:f>'Pivot_Tables '!$W$8:$W$110</c:f>
              <c:numCache>
                <c:formatCode>General</c:formatCode>
                <c:ptCount val="102"/>
                <c:pt idx="0">
                  <c:v>277.81818181818181</c:v>
                </c:pt>
                <c:pt idx="1">
                  <c:v>325.14285714285717</c:v>
                </c:pt>
                <c:pt idx="2">
                  <c:v>371.2</c:v>
                </c:pt>
                <c:pt idx="3">
                  <c:v>233.73333333333332</c:v>
                </c:pt>
                <c:pt idx="4">
                  <c:v>320.22222222222223</c:v>
                </c:pt>
                <c:pt idx="5">
                  <c:v>324</c:v>
                </c:pt>
                <c:pt idx="6">
                  <c:v>272.5</c:v>
                </c:pt>
                <c:pt idx="7">
                  <c:v>276.16666666666669</c:v>
                </c:pt>
                <c:pt idx="8">
                  <c:v>219.85714285714286</c:v>
                </c:pt>
                <c:pt idx="9">
                  <c:v>234.16666666666666</c:v>
                </c:pt>
                <c:pt idx="10">
                  <c:v>259.5</c:v>
                </c:pt>
                <c:pt idx="11">
                  <c:v>229.94117647058823</c:v>
                </c:pt>
                <c:pt idx="12">
                  <c:v>320.5</c:v>
                </c:pt>
                <c:pt idx="13">
                  <c:v>226.54545454545453</c:v>
                </c:pt>
                <c:pt idx="14">
                  <c:v>255.58333333333334</c:v>
                </c:pt>
                <c:pt idx="15">
                  <c:v>335.57142857142856</c:v>
                </c:pt>
                <c:pt idx="16">
                  <c:v>152.33333333333334</c:v>
                </c:pt>
                <c:pt idx="17">
                  <c:v>187.81818181818181</c:v>
                </c:pt>
                <c:pt idx="18">
                  <c:v>240.5</c:v>
                </c:pt>
                <c:pt idx="19">
                  <c:v>299.16666666666669</c:v>
                </c:pt>
                <c:pt idx="20">
                  <c:v>225</c:v>
                </c:pt>
                <c:pt idx="21">
                  <c:v>166.71428571428572</c:v>
                </c:pt>
                <c:pt idx="22">
                  <c:v>335.2</c:v>
                </c:pt>
                <c:pt idx="23">
                  <c:v>188.4</c:v>
                </c:pt>
                <c:pt idx="24">
                  <c:v>268</c:v>
                </c:pt>
                <c:pt idx="25">
                  <c:v>181</c:v>
                </c:pt>
                <c:pt idx="26">
                  <c:v>212.71428571428572</c:v>
                </c:pt>
                <c:pt idx="27">
                  <c:v>246.375</c:v>
                </c:pt>
                <c:pt idx="28">
                  <c:v>302.42857142857144</c:v>
                </c:pt>
                <c:pt idx="29">
                  <c:v>261.71428571428572</c:v>
                </c:pt>
                <c:pt idx="30">
                  <c:v>227.09090909090909</c:v>
                </c:pt>
                <c:pt idx="31">
                  <c:v>259.72727272727275</c:v>
                </c:pt>
                <c:pt idx="32">
                  <c:v>217</c:v>
                </c:pt>
                <c:pt idx="33">
                  <c:v>265.85714285714283</c:v>
                </c:pt>
                <c:pt idx="34">
                  <c:v>204.83333333333334</c:v>
                </c:pt>
                <c:pt idx="35">
                  <c:v>303.39999999999998</c:v>
                </c:pt>
                <c:pt idx="36">
                  <c:v>334.92307692307691</c:v>
                </c:pt>
                <c:pt idx="37">
                  <c:v>264.21428571428572</c:v>
                </c:pt>
                <c:pt idx="38">
                  <c:v>302.125</c:v>
                </c:pt>
                <c:pt idx="39">
                  <c:v>334.88888888888891</c:v>
                </c:pt>
                <c:pt idx="40">
                  <c:v>193.71428571428572</c:v>
                </c:pt>
                <c:pt idx="41">
                  <c:v>265.1764705882353</c:v>
                </c:pt>
                <c:pt idx="42">
                  <c:v>286.77777777777777</c:v>
                </c:pt>
                <c:pt idx="43">
                  <c:v>249.27272727272728</c:v>
                </c:pt>
                <c:pt idx="44">
                  <c:v>303.06666666666666</c:v>
                </c:pt>
                <c:pt idx="45">
                  <c:v>242.75</c:v>
                </c:pt>
                <c:pt idx="46">
                  <c:v>117.5</c:v>
                </c:pt>
                <c:pt idx="47">
                  <c:v>213</c:v>
                </c:pt>
                <c:pt idx="48">
                  <c:v>197.875</c:v>
                </c:pt>
                <c:pt idx="49">
                  <c:v>237.75</c:v>
                </c:pt>
                <c:pt idx="50">
                  <c:v>327.41666666666669</c:v>
                </c:pt>
                <c:pt idx="51">
                  <c:v>256.39999999999998</c:v>
                </c:pt>
                <c:pt idx="52">
                  <c:v>195.07692307692307</c:v>
                </c:pt>
                <c:pt idx="53">
                  <c:v>214.18181818181819</c:v>
                </c:pt>
                <c:pt idx="54">
                  <c:v>302.55555555555554</c:v>
                </c:pt>
                <c:pt idx="55">
                  <c:v>224.57142857142858</c:v>
                </c:pt>
                <c:pt idx="56">
                  <c:v>215.76923076923077</c:v>
                </c:pt>
                <c:pt idx="57">
                  <c:v>223.28571428571428</c:v>
                </c:pt>
                <c:pt idx="58">
                  <c:v>291.125</c:v>
                </c:pt>
                <c:pt idx="59">
                  <c:v>252.4</c:v>
                </c:pt>
                <c:pt idx="60">
                  <c:v>254.46153846153845</c:v>
                </c:pt>
                <c:pt idx="61">
                  <c:v>340.66666666666669</c:v>
                </c:pt>
                <c:pt idx="62">
                  <c:v>336.09090909090907</c:v>
                </c:pt>
                <c:pt idx="63">
                  <c:v>231</c:v>
                </c:pt>
                <c:pt idx="64">
                  <c:v>309.61538461538464</c:v>
                </c:pt>
                <c:pt idx="65">
                  <c:v>295.25</c:v>
                </c:pt>
                <c:pt idx="66">
                  <c:v>262.9375</c:v>
                </c:pt>
                <c:pt idx="67">
                  <c:v>286.2</c:v>
                </c:pt>
                <c:pt idx="68">
                  <c:v>245.25</c:v>
                </c:pt>
                <c:pt idx="69">
                  <c:v>215.85714285714286</c:v>
                </c:pt>
                <c:pt idx="70">
                  <c:v>218.77777777777777</c:v>
                </c:pt>
                <c:pt idx="71">
                  <c:v>267.69230769230768</c:v>
                </c:pt>
                <c:pt idx="72">
                  <c:v>253.5</c:v>
                </c:pt>
                <c:pt idx="73">
                  <c:v>276.54545454545456</c:v>
                </c:pt>
                <c:pt idx="74">
                  <c:v>245</c:v>
                </c:pt>
                <c:pt idx="75">
                  <c:v>247</c:v>
                </c:pt>
                <c:pt idx="76">
                  <c:v>221.66666666666666</c:v>
                </c:pt>
                <c:pt idx="77">
                  <c:v>226</c:v>
                </c:pt>
                <c:pt idx="78">
                  <c:v>266.5625</c:v>
                </c:pt>
                <c:pt idx="79">
                  <c:v>280.81818181818181</c:v>
                </c:pt>
                <c:pt idx="80">
                  <c:v>230.71428571428572</c:v>
                </c:pt>
                <c:pt idx="81">
                  <c:v>230.5</c:v>
                </c:pt>
                <c:pt idx="82">
                  <c:v>228.25</c:v>
                </c:pt>
                <c:pt idx="83">
                  <c:v>297.66666666666669</c:v>
                </c:pt>
                <c:pt idx="84">
                  <c:v>320.60000000000002</c:v>
                </c:pt>
                <c:pt idx="85">
                  <c:v>228.9</c:v>
                </c:pt>
                <c:pt idx="86">
                  <c:v>161.36363636363637</c:v>
                </c:pt>
                <c:pt idx="87">
                  <c:v>223.55555555555554</c:v>
                </c:pt>
                <c:pt idx="88">
                  <c:v>201.4</c:v>
                </c:pt>
                <c:pt idx="89">
                  <c:v>231.90909090909091</c:v>
                </c:pt>
                <c:pt idx="90">
                  <c:v>158.66666666666666</c:v>
                </c:pt>
                <c:pt idx="91">
                  <c:v>335.33333333333331</c:v>
                </c:pt>
                <c:pt idx="92">
                  <c:v>286.92307692307691</c:v>
                </c:pt>
                <c:pt idx="93">
                  <c:v>350</c:v>
                </c:pt>
                <c:pt idx="94">
                  <c:v>302.28571428571428</c:v>
                </c:pt>
                <c:pt idx="95">
                  <c:v>257.64285714285717</c:v>
                </c:pt>
                <c:pt idx="96">
                  <c:v>188.3</c:v>
                </c:pt>
                <c:pt idx="97">
                  <c:v>158.9</c:v>
                </c:pt>
                <c:pt idx="98">
                  <c:v>271.09090909090907</c:v>
                </c:pt>
                <c:pt idx="99">
                  <c:v>201.46153846153845</c:v>
                </c:pt>
                <c:pt idx="100">
                  <c:v>315.2</c:v>
                </c:pt>
              </c:numCache>
            </c:numRef>
          </c:val>
          <c:smooth val="0"/>
          <c:extLst>
            <c:ext xmlns:c16="http://schemas.microsoft.com/office/drawing/2014/chart" uri="{C3380CC4-5D6E-409C-BE32-E72D297353CC}">
              <c16:uniqueId val="{00000000-7406-4233-BAF1-B80DF2CB93B5}"/>
            </c:ext>
          </c:extLst>
        </c:ser>
        <c:dLbls>
          <c:showLegendKey val="0"/>
          <c:showVal val="0"/>
          <c:showCatName val="0"/>
          <c:showSerName val="0"/>
          <c:showPercent val="0"/>
          <c:showBubbleSize val="0"/>
        </c:dLbls>
        <c:smooth val="0"/>
        <c:axId val="667628208"/>
        <c:axId val="667629648"/>
      </c:lineChart>
      <c:catAx>
        <c:axId val="6676282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7629648"/>
        <c:crosses val="autoZero"/>
        <c:auto val="1"/>
        <c:lblAlgn val="ctr"/>
        <c:lblOffset val="100"/>
        <c:noMultiLvlLbl val="0"/>
      </c:catAx>
      <c:valAx>
        <c:axId val="6676296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762820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[Streaming Services_Kiran Patel.xlsx]Pivot_Tables !PivotTable2</c:name>
    <c:fmtId val="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a:t>Avg Watch Hours by Genre</a:t>
            </a:r>
            <a:endParaRPr lang="en-IN"/>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'Pivot_Tables '!$B$8</c:f>
              <c:strCache>
                <c:ptCount val="1"/>
                <c:pt idx="0">
                  <c:v>Total</c:v>
                </c:pt>
              </c:strCache>
            </c:strRef>
          </c:tx>
          <c:spPr>
            <a:solidFill>
              <a:schemeClr val="accent1"/>
            </a:solidFill>
            <a:ln>
              <a:noFill/>
            </a:ln>
            <a:effectLst/>
          </c:spPr>
          <c:invertIfNegative val="0"/>
          <c:cat>
            <c:strRef>
              <c:f>'Pivot_Tables '!$A$9:$A$17</c:f>
              <c:strCache>
                <c:ptCount val="8"/>
                <c:pt idx="0">
                  <c:v>Action</c:v>
                </c:pt>
                <c:pt idx="1">
                  <c:v>Comedy</c:v>
                </c:pt>
                <c:pt idx="2">
                  <c:v>Documentary</c:v>
                </c:pt>
                <c:pt idx="3">
                  <c:v>Drama</c:v>
                </c:pt>
                <c:pt idx="4">
                  <c:v>Horror</c:v>
                </c:pt>
                <c:pt idx="5">
                  <c:v>Romance</c:v>
                </c:pt>
                <c:pt idx="6">
                  <c:v>Sci-Fi</c:v>
                </c:pt>
                <c:pt idx="7">
                  <c:v>(blank)</c:v>
                </c:pt>
              </c:strCache>
            </c:strRef>
          </c:cat>
          <c:val>
            <c:numRef>
              <c:f>'Pivot_Tables '!$B$9:$B$17</c:f>
              <c:numCache>
                <c:formatCode>General</c:formatCode>
                <c:ptCount val="8"/>
                <c:pt idx="0">
                  <c:v>242.91333333333333</c:v>
                </c:pt>
                <c:pt idx="1">
                  <c:v>263.43835616438355</c:v>
                </c:pt>
                <c:pt idx="2">
                  <c:v>260.09230769230771</c:v>
                </c:pt>
                <c:pt idx="3">
                  <c:v>249.56338028169014</c:v>
                </c:pt>
                <c:pt idx="4">
                  <c:v>256.32484076433121</c:v>
                </c:pt>
                <c:pt idx="5">
                  <c:v>258.15068493150687</c:v>
                </c:pt>
                <c:pt idx="6">
                  <c:v>251.42635658914728</c:v>
                </c:pt>
              </c:numCache>
            </c:numRef>
          </c:val>
          <c:extLst>
            <c:ext xmlns:c16="http://schemas.microsoft.com/office/drawing/2014/chart" uri="{C3380CC4-5D6E-409C-BE32-E72D297353CC}">
              <c16:uniqueId val="{00000000-9378-437C-B7FE-0D064C0AB2E4}"/>
            </c:ext>
          </c:extLst>
        </c:ser>
        <c:dLbls>
          <c:showLegendKey val="0"/>
          <c:showVal val="0"/>
          <c:showCatName val="0"/>
          <c:showSerName val="0"/>
          <c:showPercent val="0"/>
          <c:showBubbleSize val="0"/>
        </c:dLbls>
        <c:gapWidth val="219"/>
        <c:overlap val="-27"/>
        <c:axId val="478250800"/>
        <c:axId val="478251280"/>
      </c:barChart>
      <c:catAx>
        <c:axId val="478250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78251280"/>
        <c:crosses val="autoZero"/>
        <c:auto val="1"/>
        <c:lblAlgn val="ctr"/>
        <c:lblOffset val="100"/>
        <c:noMultiLvlLbl val="0"/>
      </c:catAx>
      <c:valAx>
        <c:axId val="47825128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7825080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[Streaming Services_Kiran Patel.xlsx]Pivot_Tables !PivotTable4</c:name>
    <c:fmtId val="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a:t>Genre Popularity by Age Group</a:t>
            </a:r>
            <a:endParaRPr lang="en-IN"/>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stacked"/>
        <c:varyColors val="0"/>
        <c:ser>
          <c:idx val="0"/>
          <c:order val="0"/>
          <c:tx>
            <c:strRef>
              <c:f>'Pivot_Tables '!$B$21:$B$22</c:f>
              <c:strCache>
                <c:ptCount val="1"/>
                <c:pt idx="0">
                  <c:v>Action</c:v>
                </c:pt>
              </c:strCache>
            </c:strRef>
          </c:tx>
          <c:spPr>
            <a:solidFill>
              <a:schemeClr val="accent1"/>
            </a:solidFill>
            <a:ln>
              <a:noFill/>
            </a:ln>
            <a:effectLst/>
          </c:spPr>
          <c:invertIfNegative val="0"/>
          <c:cat>
            <c:strRef>
              <c:f>'Pivot_Tables '!$A$23:$A$28</c:f>
              <c:strCache>
                <c:ptCount val="5"/>
                <c:pt idx="0">
                  <c:v>18-24</c:v>
                </c:pt>
                <c:pt idx="1">
                  <c:v>25-34</c:v>
                </c:pt>
                <c:pt idx="2">
                  <c:v>35-44</c:v>
                </c:pt>
                <c:pt idx="3">
                  <c:v>45-54</c:v>
                </c:pt>
                <c:pt idx="4">
                  <c:v>55+</c:v>
                </c:pt>
              </c:strCache>
            </c:strRef>
          </c:cat>
          <c:val>
            <c:numRef>
              <c:f>'Pivot_Tables '!$B$23:$B$28</c:f>
              <c:numCache>
                <c:formatCode>General</c:formatCode>
                <c:ptCount val="5"/>
                <c:pt idx="0">
                  <c:v>26</c:v>
                </c:pt>
                <c:pt idx="1">
                  <c:v>33</c:v>
                </c:pt>
                <c:pt idx="2">
                  <c:v>32</c:v>
                </c:pt>
                <c:pt idx="3">
                  <c:v>34</c:v>
                </c:pt>
                <c:pt idx="4">
                  <c:v>25</c:v>
                </c:pt>
              </c:numCache>
            </c:numRef>
          </c:val>
          <c:extLst>
            <c:ext xmlns:c16="http://schemas.microsoft.com/office/drawing/2014/chart" uri="{C3380CC4-5D6E-409C-BE32-E72D297353CC}">
              <c16:uniqueId val="{00000000-34CE-4448-982A-77242536C259}"/>
            </c:ext>
          </c:extLst>
        </c:ser>
        <c:ser>
          <c:idx val="1"/>
          <c:order val="1"/>
          <c:tx>
            <c:strRef>
              <c:f>'Pivot_Tables '!$C$21:$C$22</c:f>
              <c:strCache>
                <c:ptCount val="1"/>
                <c:pt idx="0">
                  <c:v>Comedy</c:v>
                </c:pt>
              </c:strCache>
            </c:strRef>
          </c:tx>
          <c:spPr>
            <a:solidFill>
              <a:schemeClr val="accent2"/>
            </a:solidFill>
            <a:ln>
              <a:noFill/>
            </a:ln>
            <a:effectLst/>
          </c:spPr>
          <c:invertIfNegative val="0"/>
          <c:cat>
            <c:strRef>
              <c:f>'Pivot_Tables '!$A$23:$A$28</c:f>
              <c:strCache>
                <c:ptCount val="5"/>
                <c:pt idx="0">
                  <c:v>18-24</c:v>
                </c:pt>
                <c:pt idx="1">
                  <c:v>25-34</c:v>
                </c:pt>
                <c:pt idx="2">
                  <c:v>35-44</c:v>
                </c:pt>
                <c:pt idx="3">
                  <c:v>45-54</c:v>
                </c:pt>
                <c:pt idx="4">
                  <c:v>55+</c:v>
                </c:pt>
              </c:strCache>
            </c:strRef>
          </c:cat>
          <c:val>
            <c:numRef>
              <c:f>'Pivot_Tables '!$C$23:$C$28</c:f>
              <c:numCache>
                <c:formatCode>General</c:formatCode>
                <c:ptCount val="5"/>
                <c:pt idx="0">
                  <c:v>23</c:v>
                </c:pt>
                <c:pt idx="1">
                  <c:v>29</c:v>
                </c:pt>
                <c:pt idx="2">
                  <c:v>29</c:v>
                </c:pt>
                <c:pt idx="3">
                  <c:v>26</c:v>
                </c:pt>
                <c:pt idx="4">
                  <c:v>39</c:v>
                </c:pt>
              </c:numCache>
            </c:numRef>
          </c:val>
          <c:extLst>
            <c:ext xmlns:c16="http://schemas.microsoft.com/office/drawing/2014/chart" uri="{C3380CC4-5D6E-409C-BE32-E72D297353CC}">
              <c16:uniqueId val="{00000001-34CE-4448-982A-77242536C259}"/>
            </c:ext>
          </c:extLst>
        </c:ser>
        <c:ser>
          <c:idx val="2"/>
          <c:order val="2"/>
          <c:tx>
            <c:strRef>
              <c:f>'Pivot_Tables '!$D$21:$D$22</c:f>
              <c:strCache>
                <c:ptCount val="1"/>
                <c:pt idx="0">
                  <c:v>Documentary</c:v>
                </c:pt>
              </c:strCache>
            </c:strRef>
          </c:tx>
          <c:spPr>
            <a:solidFill>
              <a:schemeClr val="accent3"/>
            </a:solidFill>
            <a:ln>
              <a:noFill/>
            </a:ln>
            <a:effectLst/>
          </c:spPr>
          <c:invertIfNegative val="0"/>
          <c:cat>
            <c:strRef>
              <c:f>'Pivot_Tables '!$A$23:$A$28</c:f>
              <c:strCache>
                <c:ptCount val="5"/>
                <c:pt idx="0">
                  <c:v>18-24</c:v>
                </c:pt>
                <c:pt idx="1">
                  <c:v>25-34</c:v>
                </c:pt>
                <c:pt idx="2">
                  <c:v>35-44</c:v>
                </c:pt>
                <c:pt idx="3">
                  <c:v>45-54</c:v>
                </c:pt>
                <c:pt idx="4">
                  <c:v>55+</c:v>
                </c:pt>
              </c:strCache>
            </c:strRef>
          </c:cat>
          <c:val>
            <c:numRef>
              <c:f>'Pivot_Tables '!$D$23:$D$28</c:f>
              <c:numCache>
                <c:formatCode>General</c:formatCode>
                <c:ptCount val="5"/>
                <c:pt idx="0">
                  <c:v>36</c:v>
                </c:pt>
                <c:pt idx="1">
                  <c:v>21</c:v>
                </c:pt>
                <c:pt idx="2">
                  <c:v>22</c:v>
                </c:pt>
                <c:pt idx="3">
                  <c:v>22</c:v>
                </c:pt>
                <c:pt idx="4">
                  <c:v>29</c:v>
                </c:pt>
              </c:numCache>
            </c:numRef>
          </c:val>
          <c:extLst>
            <c:ext xmlns:c16="http://schemas.microsoft.com/office/drawing/2014/chart" uri="{C3380CC4-5D6E-409C-BE32-E72D297353CC}">
              <c16:uniqueId val="{00000002-34CE-4448-982A-77242536C259}"/>
            </c:ext>
          </c:extLst>
        </c:ser>
        <c:ser>
          <c:idx val="3"/>
          <c:order val="3"/>
          <c:tx>
            <c:strRef>
              <c:f>'Pivot_Tables '!$E$21:$E$22</c:f>
              <c:strCache>
                <c:ptCount val="1"/>
                <c:pt idx="0">
                  <c:v>Drama</c:v>
                </c:pt>
              </c:strCache>
            </c:strRef>
          </c:tx>
          <c:spPr>
            <a:solidFill>
              <a:schemeClr val="accent4"/>
            </a:solidFill>
            <a:ln>
              <a:noFill/>
            </a:ln>
            <a:effectLst/>
          </c:spPr>
          <c:invertIfNegative val="0"/>
          <c:cat>
            <c:strRef>
              <c:f>'Pivot_Tables '!$A$23:$A$28</c:f>
              <c:strCache>
                <c:ptCount val="5"/>
                <c:pt idx="0">
                  <c:v>18-24</c:v>
                </c:pt>
                <c:pt idx="1">
                  <c:v>25-34</c:v>
                </c:pt>
                <c:pt idx="2">
                  <c:v>35-44</c:v>
                </c:pt>
                <c:pt idx="3">
                  <c:v>45-54</c:v>
                </c:pt>
                <c:pt idx="4">
                  <c:v>55+</c:v>
                </c:pt>
              </c:strCache>
            </c:strRef>
          </c:cat>
          <c:val>
            <c:numRef>
              <c:f>'Pivot_Tables '!$E$23:$E$28</c:f>
              <c:numCache>
                <c:formatCode>General</c:formatCode>
                <c:ptCount val="5"/>
                <c:pt idx="0">
                  <c:v>25</c:v>
                </c:pt>
                <c:pt idx="1">
                  <c:v>31</c:v>
                </c:pt>
                <c:pt idx="2">
                  <c:v>27</c:v>
                </c:pt>
                <c:pt idx="3">
                  <c:v>31</c:v>
                </c:pt>
                <c:pt idx="4">
                  <c:v>28</c:v>
                </c:pt>
              </c:numCache>
            </c:numRef>
          </c:val>
          <c:extLst>
            <c:ext xmlns:c16="http://schemas.microsoft.com/office/drawing/2014/chart" uri="{C3380CC4-5D6E-409C-BE32-E72D297353CC}">
              <c16:uniqueId val="{00000003-34CE-4448-982A-77242536C259}"/>
            </c:ext>
          </c:extLst>
        </c:ser>
        <c:ser>
          <c:idx val="4"/>
          <c:order val="4"/>
          <c:tx>
            <c:strRef>
              <c:f>'Pivot_Tables '!$F$21:$F$22</c:f>
              <c:strCache>
                <c:ptCount val="1"/>
                <c:pt idx="0">
                  <c:v>Horror</c:v>
                </c:pt>
              </c:strCache>
            </c:strRef>
          </c:tx>
          <c:spPr>
            <a:solidFill>
              <a:schemeClr val="accent5"/>
            </a:solidFill>
            <a:ln>
              <a:noFill/>
            </a:ln>
            <a:effectLst/>
          </c:spPr>
          <c:invertIfNegative val="0"/>
          <c:cat>
            <c:strRef>
              <c:f>'Pivot_Tables '!$A$23:$A$28</c:f>
              <c:strCache>
                <c:ptCount val="5"/>
                <c:pt idx="0">
                  <c:v>18-24</c:v>
                </c:pt>
                <c:pt idx="1">
                  <c:v>25-34</c:v>
                </c:pt>
                <c:pt idx="2">
                  <c:v>35-44</c:v>
                </c:pt>
                <c:pt idx="3">
                  <c:v>45-54</c:v>
                </c:pt>
                <c:pt idx="4">
                  <c:v>55+</c:v>
                </c:pt>
              </c:strCache>
            </c:strRef>
          </c:cat>
          <c:val>
            <c:numRef>
              <c:f>'Pivot_Tables '!$F$23:$F$28</c:f>
              <c:numCache>
                <c:formatCode>General</c:formatCode>
                <c:ptCount val="5"/>
                <c:pt idx="0">
                  <c:v>23</c:v>
                </c:pt>
                <c:pt idx="1">
                  <c:v>36</c:v>
                </c:pt>
                <c:pt idx="2">
                  <c:v>34</c:v>
                </c:pt>
                <c:pt idx="3">
                  <c:v>32</c:v>
                </c:pt>
                <c:pt idx="4">
                  <c:v>32</c:v>
                </c:pt>
              </c:numCache>
            </c:numRef>
          </c:val>
          <c:extLst>
            <c:ext xmlns:c16="http://schemas.microsoft.com/office/drawing/2014/chart" uri="{C3380CC4-5D6E-409C-BE32-E72D297353CC}">
              <c16:uniqueId val="{00000004-34CE-4448-982A-77242536C259}"/>
            </c:ext>
          </c:extLst>
        </c:ser>
        <c:ser>
          <c:idx val="5"/>
          <c:order val="5"/>
          <c:tx>
            <c:strRef>
              <c:f>'Pivot_Tables '!$G$21:$G$22</c:f>
              <c:strCache>
                <c:ptCount val="1"/>
                <c:pt idx="0">
                  <c:v>Romance</c:v>
                </c:pt>
              </c:strCache>
            </c:strRef>
          </c:tx>
          <c:spPr>
            <a:solidFill>
              <a:schemeClr val="accent6"/>
            </a:solidFill>
            <a:ln>
              <a:noFill/>
            </a:ln>
            <a:effectLst/>
          </c:spPr>
          <c:invertIfNegative val="0"/>
          <c:cat>
            <c:strRef>
              <c:f>'Pivot_Tables '!$A$23:$A$28</c:f>
              <c:strCache>
                <c:ptCount val="5"/>
                <c:pt idx="0">
                  <c:v>18-24</c:v>
                </c:pt>
                <c:pt idx="1">
                  <c:v>25-34</c:v>
                </c:pt>
                <c:pt idx="2">
                  <c:v>35-44</c:v>
                </c:pt>
                <c:pt idx="3">
                  <c:v>45-54</c:v>
                </c:pt>
                <c:pt idx="4">
                  <c:v>55+</c:v>
                </c:pt>
              </c:strCache>
            </c:strRef>
          </c:cat>
          <c:val>
            <c:numRef>
              <c:f>'Pivot_Tables '!$G$23:$G$28</c:f>
              <c:numCache>
                <c:formatCode>General</c:formatCode>
                <c:ptCount val="5"/>
                <c:pt idx="0">
                  <c:v>24</c:v>
                </c:pt>
                <c:pt idx="1">
                  <c:v>27</c:v>
                </c:pt>
                <c:pt idx="2">
                  <c:v>32</c:v>
                </c:pt>
                <c:pt idx="3">
                  <c:v>36</c:v>
                </c:pt>
                <c:pt idx="4">
                  <c:v>27</c:v>
                </c:pt>
              </c:numCache>
            </c:numRef>
          </c:val>
          <c:extLst>
            <c:ext xmlns:c16="http://schemas.microsoft.com/office/drawing/2014/chart" uri="{C3380CC4-5D6E-409C-BE32-E72D297353CC}">
              <c16:uniqueId val="{00000005-34CE-4448-982A-77242536C259}"/>
            </c:ext>
          </c:extLst>
        </c:ser>
        <c:ser>
          <c:idx val="6"/>
          <c:order val="6"/>
          <c:tx>
            <c:strRef>
              <c:f>'Pivot_Tables '!$H$21:$H$22</c:f>
              <c:strCache>
                <c:ptCount val="1"/>
                <c:pt idx="0">
                  <c:v>Sci-Fi</c:v>
                </c:pt>
              </c:strCache>
            </c:strRef>
          </c:tx>
          <c:spPr>
            <a:solidFill>
              <a:schemeClr val="accent1">
                <a:lumMod val="60000"/>
              </a:schemeClr>
            </a:solidFill>
            <a:ln>
              <a:noFill/>
            </a:ln>
            <a:effectLst/>
          </c:spPr>
          <c:invertIfNegative val="0"/>
          <c:cat>
            <c:strRef>
              <c:f>'Pivot_Tables '!$A$23:$A$28</c:f>
              <c:strCache>
                <c:ptCount val="5"/>
                <c:pt idx="0">
                  <c:v>18-24</c:v>
                </c:pt>
                <c:pt idx="1">
                  <c:v>25-34</c:v>
                </c:pt>
                <c:pt idx="2">
                  <c:v>35-44</c:v>
                </c:pt>
                <c:pt idx="3">
                  <c:v>45-54</c:v>
                </c:pt>
                <c:pt idx="4">
                  <c:v>55+</c:v>
                </c:pt>
              </c:strCache>
            </c:strRef>
          </c:cat>
          <c:val>
            <c:numRef>
              <c:f>'Pivot_Tables '!$H$23:$H$28</c:f>
              <c:numCache>
                <c:formatCode>General</c:formatCode>
                <c:ptCount val="5"/>
                <c:pt idx="0">
                  <c:v>23</c:v>
                </c:pt>
                <c:pt idx="1">
                  <c:v>23</c:v>
                </c:pt>
                <c:pt idx="2">
                  <c:v>31</c:v>
                </c:pt>
                <c:pt idx="3">
                  <c:v>27</c:v>
                </c:pt>
                <c:pt idx="4">
                  <c:v>25</c:v>
                </c:pt>
              </c:numCache>
            </c:numRef>
          </c:val>
          <c:extLst>
            <c:ext xmlns:c16="http://schemas.microsoft.com/office/drawing/2014/chart" uri="{C3380CC4-5D6E-409C-BE32-E72D297353CC}">
              <c16:uniqueId val="{00000006-34CE-4448-982A-77242536C259}"/>
            </c:ext>
          </c:extLst>
        </c:ser>
        <c:dLbls>
          <c:showLegendKey val="0"/>
          <c:showVal val="0"/>
          <c:showCatName val="0"/>
          <c:showSerName val="0"/>
          <c:showPercent val="0"/>
          <c:showBubbleSize val="0"/>
        </c:dLbls>
        <c:gapWidth val="150"/>
        <c:overlap val="100"/>
        <c:axId val="150566496"/>
        <c:axId val="150569856"/>
      </c:barChart>
      <c:catAx>
        <c:axId val="15056649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0569856"/>
        <c:crosses val="autoZero"/>
        <c:auto val="1"/>
        <c:lblAlgn val="ctr"/>
        <c:lblOffset val="100"/>
        <c:noMultiLvlLbl val="0"/>
      </c:catAx>
      <c:valAx>
        <c:axId val="15056985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05664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[Streaming Services_Kiran Patel.xlsx]Pivot_Tables !PivotTable10</c:name>
    <c:fmtId val="1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a:t>Device Usage Distribution</a:t>
            </a:r>
            <a:endParaRPr lang="en-IN"/>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pivotFmt>
      <c:pivotFmt>
        <c:idx val="1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accent1"/>
          </a:solidFill>
          <a:ln w="19050">
            <a:solidFill>
              <a:schemeClr val="lt1"/>
            </a:solidFill>
          </a:ln>
          <a:effectLst/>
        </c:spPr>
      </c:pivotFmt>
      <c:pivotFmt>
        <c:idx val="14"/>
        <c:spPr>
          <a:solidFill>
            <a:schemeClr val="accent1"/>
          </a:solidFill>
          <a:ln w="19050">
            <a:solidFill>
              <a:schemeClr val="lt1"/>
            </a:solidFill>
          </a:ln>
          <a:effectLst/>
        </c:spPr>
      </c:pivotFmt>
      <c:pivotFmt>
        <c:idx val="15"/>
        <c:spPr>
          <a:solidFill>
            <a:schemeClr val="accent1"/>
          </a:solidFill>
          <a:ln w="19050">
            <a:solidFill>
              <a:schemeClr val="lt1"/>
            </a:solidFill>
          </a:ln>
          <a:effectLst/>
        </c:spPr>
      </c:pivotFmt>
      <c:pivotFmt>
        <c:idx val="16"/>
        <c:spPr>
          <a:solidFill>
            <a:schemeClr val="accent1"/>
          </a:solidFill>
          <a:ln w="19050">
            <a:solidFill>
              <a:schemeClr val="lt1"/>
            </a:solidFill>
          </a:ln>
          <a:effectLst/>
        </c:spPr>
      </c:pivotFmt>
      <c:pivotFmt>
        <c:idx val="17"/>
        <c:spPr>
          <a:solidFill>
            <a:schemeClr val="accent1"/>
          </a:solidFill>
          <a:ln w="19050">
            <a:solidFill>
              <a:schemeClr val="lt1"/>
            </a:solidFill>
          </a:ln>
          <a:effectLst/>
        </c:spPr>
      </c:pivotFmt>
    </c:pivotFmts>
    <c:plotArea>
      <c:layout/>
      <c:pieChart>
        <c:varyColors val="1"/>
        <c:ser>
          <c:idx val="0"/>
          <c:order val="0"/>
          <c:tx>
            <c:strRef>
              <c:f>'Pivot_Tables '!$L$22</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EC5C-4070-A2AF-A1F9A86C65CB}"/>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EC5C-4070-A2AF-A1F9A86C65C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EC5C-4070-A2AF-A1F9A86C65CB}"/>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EC5C-4070-A2AF-A1F9A86C65CB}"/>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EC5C-4070-A2AF-A1F9A86C65CB}"/>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'Pivot_Tables '!$K$23:$K$28</c:f>
              <c:strCache>
                <c:ptCount val="5"/>
                <c:pt idx="0">
                  <c:v>Desktop</c:v>
                </c:pt>
                <c:pt idx="1">
                  <c:v>Laptop</c:v>
                </c:pt>
                <c:pt idx="2">
                  <c:v>Smart TV</c:v>
                </c:pt>
                <c:pt idx="3">
                  <c:v>Smartphone</c:v>
                </c:pt>
                <c:pt idx="4">
                  <c:v>Tablet</c:v>
                </c:pt>
              </c:strCache>
            </c:strRef>
          </c:cat>
          <c:val>
            <c:numRef>
              <c:f>'Pivot_Tables '!$L$23:$L$28</c:f>
              <c:numCache>
                <c:formatCode>General</c:formatCode>
                <c:ptCount val="5"/>
                <c:pt idx="0">
                  <c:v>189</c:v>
                </c:pt>
                <c:pt idx="1">
                  <c:v>178</c:v>
                </c:pt>
                <c:pt idx="2">
                  <c:v>209</c:v>
                </c:pt>
                <c:pt idx="3">
                  <c:v>209</c:v>
                </c:pt>
                <c:pt idx="4">
                  <c:v>215</c:v>
                </c:pt>
              </c:numCache>
            </c:numRef>
          </c:val>
          <c:extLst>
            <c:ext xmlns:c16="http://schemas.microsoft.com/office/drawing/2014/chart" uri="{C3380CC4-5D6E-409C-BE32-E72D297353CC}">
              <c16:uniqueId val="{0000000A-EC5C-4070-A2AF-A1F9A86C65CB}"/>
            </c:ext>
          </c:extLst>
        </c:ser>
        <c:dLbls>
          <c:dLblPos val="outEnd"/>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[Streaming Services_Kiran Patel.xlsx]Pivot_Tables !PivotTable12</c:name>
    <c:fmtId val="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a:t>Peak Watch Time Trends</a:t>
            </a:r>
            <a:endParaRPr lang="en-IN" sz="1400" b="0" i="0" u="none" strike="noStrike" kern="1200" spc="0" baseline="0">
              <a:solidFill>
                <a:sysClr val="windowText" lastClr="000000">
                  <a:lumMod val="65000"/>
                  <a:lumOff val="35000"/>
                </a:sysClr>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'Pivot_Tables '!$S$23</c:f>
              <c:strCache>
                <c:ptCount val="1"/>
                <c:pt idx="0">
                  <c:v>Total</c:v>
                </c:pt>
              </c:strCache>
            </c:strRef>
          </c:tx>
          <c:spPr>
            <a:solidFill>
              <a:schemeClr val="accent1"/>
            </a:solidFill>
            <a:ln>
              <a:noFill/>
            </a:ln>
            <a:effectLst/>
          </c:spPr>
          <c:invertIfNegative val="0"/>
          <c:cat>
            <c:strRef>
              <c:f>'Pivot_Tables '!$R$24:$R$28</c:f>
              <c:strCache>
                <c:ptCount val="4"/>
                <c:pt idx="0">
                  <c:v>Afternoon</c:v>
                </c:pt>
                <c:pt idx="1">
                  <c:v>Evening</c:v>
                </c:pt>
                <c:pt idx="2">
                  <c:v>Late Night</c:v>
                </c:pt>
                <c:pt idx="3">
                  <c:v>Morning</c:v>
                </c:pt>
              </c:strCache>
            </c:strRef>
          </c:cat>
          <c:val>
            <c:numRef>
              <c:f>'Pivot_Tables '!$S$24:$S$28</c:f>
              <c:numCache>
                <c:formatCode>General</c:formatCode>
                <c:ptCount val="4"/>
                <c:pt idx="0">
                  <c:v>247.07968127490039</c:v>
                </c:pt>
                <c:pt idx="1">
                  <c:v>255.39453125</c:v>
                </c:pt>
                <c:pt idx="2">
                  <c:v>245.98154981549814</c:v>
                </c:pt>
                <c:pt idx="3">
                  <c:v>272.32882882882882</c:v>
                </c:pt>
              </c:numCache>
            </c:numRef>
          </c:val>
          <c:extLst>
            <c:ext xmlns:c16="http://schemas.microsoft.com/office/drawing/2014/chart" uri="{C3380CC4-5D6E-409C-BE32-E72D297353CC}">
              <c16:uniqueId val="{00000000-6E49-4F54-A8E2-9BA2AA795612}"/>
            </c:ext>
          </c:extLst>
        </c:ser>
        <c:dLbls>
          <c:showLegendKey val="0"/>
          <c:showVal val="0"/>
          <c:showCatName val="0"/>
          <c:showSerName val="0"/>
          <c:showPercent val="0"/>
          <c:showBubbleSize val="0"/>
        </c:dLbls>
        <c:gapWidth val="219"/>
        <c:overlap val="-27"/>
        <c:axId val="240774240"/>
        <c:axId val="240761760"/>
      </c:barChart>
      <c:catAx>
        <c:axId val="2407742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40761760"/>
        <c:crosses val="autoZero"/>
        <c:auto val="1"/>
        <c:lblAlgn val="ctr"/>
        <c:lblOffset val="100"/>
        <c:noMultiLvlLbl val="0"/>
      </c:catAx>
      <c:valAx>
        <c:axId val="2407617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407742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[Streaming Services_Kiran Patel.xlsx]Pivot_Tables !PivotTable5</c:name>
    <c:fmtId val="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a:t>Active vs Inactive Users</a:t>
            </a:r>
            <a:endParaRPr lang="en-IN"/>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pivotFmt>
      <c:pivotFmt>
        <c:idx val="1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19050">
            <a:solidFill>
              <a:schemeClr val="lt1"/>
            </a:solidFill>
          </a:ln>
          <a:effectLst/>
        </c:spPr>
      </c:pivotFmt>
      <c:pivotFmt>
        <c:idx val="14"/>
        <c:spPr>
          <a:solidFill>
            <a:schemeClr val="accent1"/>
          </a:solidFill>
          <a:ln w="19050">
            <a:solidFill>
              <a:schemeClr val="lt1"/>
            </a:solidFill>
          </a:ln>
          <a:effectLst/>
        </c:spPr>
      </c:pivotFmt>
      <c:pivotFmt>
        <c:idx val="1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w="19050">
            <a:solidFill>
              <a:schemeClr val="lt1"/>
            </a:solidFill>
          </a:ln>
          <a:effectLst/>
        </c:spPr>
      </c:pivotFmt>
      <c:pivotFmt>
        <c:idx val="17"/>
        <c:spPr>
          <a:solidFill>
            <a:schemeClr val="accent1"/>
          </a:solidFill>
          <a:ln w="19050">
            <a:solidFill>
              <a:schemeClr val="lt1"/>
            </a:solidFill>
          </a:ln>
          <a:effectLst/>
        </c:spPr>
      </c:pivotFmt>
    </c:pivotFmts>
    <c:plotArea>
      <c:layout/>
      <c:doughnutChart>
        <c:varyColors val="1"/>
        <c:ser>
          <c:idx val="0"/>
          <c:order val="0"/>
          <c:tx>
            <c:strRef>
              <c:f>'Pivot_Tables '!$B$31</c:f>
              <c:strCache>
                <c:ptCount val="1"/>
                <c:pt idx="0">
                  <c:v>Count of User_ID</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3239-4E28-8233-60ABFF91D95A}"/>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3239-4E28-8233-60ABFF91D95A}"/>
              </c:ext>
            </c:extLst>
          </c:dPt>
          <c:cat>
            <c:strRef>
              <c:f>'Pivot_Tables '!$A$32:$A$34</c:f>
              <c:strCache>
                <c:ptCount val="2"/>
                <c:pt idx="0">
                  <c:v>Active</c:v>
                </c:pt>
                <c:pt idx="1">
                  <c:v>Inactive</c:v>
                </c:pt>
              </c:strCache>
            </c:strRef>
          </c:cat>
          <c:val>
            <c:numRef>
              <c:f>'Pivot_Tables '!$B$32:$B$34</c:f>
              <c:numCache>
                <c:formatCode>General</c:formatCode>
                <c:ptCount val="2"/>
                <c:pt idx="0">
                  <c:v>1000</c:v>
                </c:pt>
              </c:numCache>
            </c:numRef>
          </c:val>
          <c:extLst>
            <c:ext xmlns:c16="http://schemas.microsoft.com/office/drawing/2014/chart" uri="{C3380CC4-5D6E-409C-BE32-E72D297353CC}">
              <c16:uniqueId val="{00000004-3239-4E28-8233-60ABFF91D95A}"/>
            </c:ext>
          </c:extLst>
        </c:ser>
        <c:ser>
          <c:idx val="1"/>
          <c:order val="1"/>
          <c:tx>
            <c:strRef>
              <c:f>'Pivot_Tables '!$C$31</c:f>
              <c:strCache>
                <c:ptCount val="1"/>
                <c:pt idx="0">
                  <c:v>Average of Loyalty_Points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6-3239-4E28-8233-60ABFF91D95A}"/>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8-3239-4E28-8233-60ABFF91D95A}"/>
              </c:ext>
            </c:extLst>
          </c:dPt>
          <c:cat>
            <c:strRef>
              <c:f>'Pivot_Tables '!$A$32:$A$34</c:f>
              <c:strCache>
                <c:ptCount val="2"/>
                <c:pt idx="0">
                  <c:v>Active</c:v>
                </c:pt>
                <c:pt idx="1">
                  <c:v>Inactive</c:v>
                </c:pt>
              </c:strCache>
            </c:strRef>
          </c:cat>
          <c:val>
            <c:numRef>
              <c:f>'Pivot_Tables '!$C$32:$C$34</c:f>
              <c:numCache>
                <c:formatCode>General</c:formatCode>
                <c:ptCount val="2"/>
                <c:pt idx="0">
                  <c:v>2444.2170000000001</c:v>
                </c:pt>
              </c:numCache>
            </c:numRef>
          </c:val>
          <c:extLst>
            <c:ext xmlns:c16="http://schemas.microsoft.com/office/drawing/2014/chart" uri="{C3380CC4-5D6E-409C-BE32-E72D297353CC}">
              <c16:uniqueId val="{00000009-3239-4E28-8233-60ABFF91D95A}"/>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[Streaming Services_Kiran Patel.xlsx]Pivot_Tables !PivotTable13</c:name>
    <c:fmtId val="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a:t>Downloads by Membership Status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'Pivot_Tables '!$Q$33:$Q$34</c:f>
              <c:strCache>
                <c:ptCount val="1"/>
                <c:pt idx="0">
                  <c:v>Active</c:v>
                </c:pt>
              </c:strCache>
            </c:strRef>
          </c:tx>
          <c:spPr>
            <a:solidFill>
              <a:schemeClr val="accent1"/>
            </a:solidFill>
            <a:ln>
              <a:noFill/>
            </a:ln>
            <a:effectLst/>
          </c:spPr>
          <c:invertIfNegative val="0"/>
          <c:cat>
            <c:strRef>
              <c:f>'Pivot_Tables '!$P$35:$P$37</c:f>
              <c:strCache>
                <c:ptCount val="2"/>
                <c:pt idx="0">
                  <c:v>FALSE</c:v>
                </c:pt>
                <c:pt idx="1">
                  <c:v>TRUE</c:v>
                </c:pt>
              </c:strCache>
            </c:strRef>
          </c:cat>
          <c:val>
            <c:numRef>
              <c:f>'Pivot_Tables '!$Q$35:$Q$37</c:f>
              <c:numCache>
                <c:formatCode>General</c:formatCode>
                <c:ptCount val="2"/>
                <c:pt idx="0">
                  <c:v>501</c:v>
                </c:pt>
                <c:pt idx="1">
                  <c:v>499</c:v>
                </c:pt>
              </c:numCache>
            </c:numRef>
          </c:val>
          <c:extLst>
            <c:ext xmlns:c16="http://schemas.microsoft.com/office/drawing/2014/chart" uri="{C3380CC4-5D6E-409C-BE32-E72D297353CC}">
              <c16:uniqueId val="{00000000-98E7-46B1-A3C3-FECA922C1AB0}"/>
            </c:ext>
          </c:extLst>
        </c:ser>
        <c:dLbls>
          <c:showLegendKey val="0"/>
          <c:showVal val="0"/>
          <c:showCatName val="0"/>
          <c:showSerName val="0"/>
          <c:showPercent val="0"/>
          <c:showBubbleSize val="0"/>
        </c:dLbls>
        <c:gapWidth val="219"/>
        <c:overlap val="-27"/>
        <c:axId val="1980732208"/>
        <c:axId val="1980731728"/>
      </c:barChart>
      <c:catAx>
        <c:axId val="19807322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80731728"/>
        <c:crosses val="autoZero"/>
        <c:auto val="1"/>
        <c:lblAlgn val="ctr"/>
        <c:lblOffset val="100"/>
        <c:noMultiLvlLbl val="0"/>
      </c:catAx>
      <c:valAx>
        <c:axId val="198073172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807322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'[Streaming Services_Kiran Patel.xlsx]Calculated_Fields'!$I$2:$I$1001</cx:f>
        <cx:lvl ptCount="1000" formatCode="General">
          <cx:pt idx="0">2878</cx:pt>
          <cx:pt idx="1">2291</cx:pt>
          <cx:pt idx="2">1692</cx:pt>
          <cx:pt idx="3">952</cx:pt>
          <cx:pt idx="4">1823</cx:pt>
          <cx:pt idx="5">33</cx:pt>
          <cx:pt idx="6">755</cx:pt>
          <cx:pt idx="7">2866</cx:pt>
          <cx:pt idx="8">336</cx:pt>
          <cx:pt idx="9">3898</cx:pt>
          <cx:pt idx="10">650</cx:pt>
          <cx:pt idx="11">185</cx:pt>
          <cx:pt idx="12">1547</cx:pt>
          <cx:pt idx="13">3788</cx:pt>
          <cx:pt idx="14">1051</cx:pt>
          <cx:pt idx="15">633</cx:pt>
          <cx:pt idx="16">4133</cx:pt>
          <cx:pt idx="17">1159</cx:pt>
          <cx:pt idx="18">4673</cx:pt>
          <cx:pt idx="19">4200</cx:pt>
          <cx:pt idx="20">3607</cx:pt>
          <cx:pt idx="21">4602</cx:pt>
          <cx:pt idx="22">256</cx:pt>
          <cx:pt idx="23">2406</cx:pt>
          <cx:pt idx="24">1394</cx:pt>
          <cx:pt idx="25">1856</cx:pt>
          <cx:pt idx="26">1665</cx:pt>
          <cx:pt idx="27">2759</cx:pt>
          <cx:pt idx="28">3433</cx:pt>
          <cx:pt idx="29">3966</cx:pt>
          <cx:pt idx="30">4185</cx:pt>
          <cx:pt idx="31">784</cx:pt>
          <cx:pt idx="32">3428</cx:pt>
          <cx:pt idx="33">4245</cx:pt>
          <cx:pt idx="34">2580</cx:pt>
          <cx:pt idx="35">2779</cx:pt>
          <cx:pt idx="36">2318</cx:pt>
          <cx:pt idx="37">827</cx:pt>
          <cx:pt idx="38">2670</cx:pt>
          <cx:pt idx="39">2409</cx:pt>
          <cx:pt idx="40">1577</cx:pt>
          <cx:pt idx="41">4072</cx:pt>
          <cx:pt idx="42">3432</cx:pt>
          <cx:pt idx="43">4511</cx:pt>
          <cx:pt idx="44">583</cx:pt>
          <cx:pt idx="45">3626</cx:pt>
          <cx:pt idx="46">476</cx:pt>
          <cx:pt idx="47">4114</cx:pt>
          <cx:pt idx="48">1581</cx:pt>
          <cx:pt idx="49">1293</cx:pt>
          <cx:pt idx="50">1744</cx:pt>
          <cx:pt idx="51">448</cx:pt>
          <cx:pt idx="52">3398</cx:pt>
          <cx:pt idx="53">4691</cx:pt>
          <cx:pt idx="54">4674</cx:pt>
          <cx:pt idx="55">3641</cx:pt>
          <cx:pt idx="56">1765</cx:pt>
          <cx:pt idx="57">3462</cx:pt>
          <cx:pt idx="58">790</cx:pt>
          <cx:pt idx="59">4732</cx:pt>
          <cx:pt idx="60">4599</cx:pt>
          <cx:pt idx="61">965</cx:pt>
          <cx:pt idx="62">1155</cx:pt>
          <cx:pt idx="63">1110</cx:pt>
          <cx:pt idx="64">1911</cx:pt>
          <cx:pt idx="65">1721</cx:pt>
          <cx:pt idx="66">353</cx:pt>
          <cx:pt idx="67">423</cx:pt>
          <cx:pt idx="68">344</cx:pt>
          <cx:pt idx="69">4117</cx:pt>
          <cx:pt idx="70">3983</cx:pt>
          <cx:pt idx="71">3941</cx:pt>
          <cx:pt idx="72">3085</cx:pt>
          <cx:pt idx="73">48</cx:pt>
          <cx:pt idx="74">1520</cx:pt>
          <cx:pt idx="75">935</cx:pt>
          <cx:pt idx="76">4641</cx:pt>
          <cx:pt idx="77">2941</cx:pt>
          <cx:pt idx="78">1325</cx:pt>
          <cx:pt idx="79">4465</cx:pt>
          <cx:pt idx="80">3517</cx:pt>
          <cx:pt idx="81">1672</cx:pt>
          <cx:pt idx="82">2164</cx:pt>
          <cx:pt idx="83">3663</cx:pt>
          <cx:pt idx="84">2845</cx:pt>
          <cx:pt idx="85">2390</cx:pt>
          <cx:pt idx="86">234</cx:pt>
          <cx:pt idx="87">3975</cx:pt>
          <cx:pt idx="88">561</cx:pt>
          <cx:pt idx="89">4647</cx:pt>
          <cx:pt idx="90">581</cx:pt>
          <cx:pt idx="91">1250</cx:pt>
          <cx:pt idx="92">3441</cx:pt>
          <cx:pt idx="93">3211</cx:pt>
          <cx:pt idx="94">647</cx:pt>
          <cx:pt idx="95">3751</cx:pt>
          <cx:pt idx="96">2925</cx:pt>
          <cx:pt idx="97">4646</cx:pt>
          <cx:pt idx="98">2867</cx:pt>
          <cx:pt idx="99">4131</cx:pt>
          <cx:pt idx="100">2927</cx:pt>
          <cx:pt idx="101">3314</cx:pt>
          <cx:pt idx="102">1782</cx:pt>
          <cx:pt idx="103">1938</cx:pt>
          <cx:pt idx="104">3935</cx:pt>
          <cx:pt idx="105">3206</cx:pt>
          <cx:pt idx="106">2523</cx:pt>
          <cx:pt idx="107">2727</cx:pt>
          <cx:pt idx="108">2864</cx:pt>
          <cx:pt idx="109">3698</cx:pt>
          <cx:pt idx="110">1531</cx:pt>
          <cx:pt idx="111">4884</cx:pt>
          <cx:pt idx="112">3633</cx:pt>
          <cx:pt idx="113">4719</cx:pt>
          <cx:pt idx="114">3161</cx:pt>
          <cx:pt idx="115">3607</cx:pt>
          <cx:pt idx="116">944</cx:pt>
          <cx:pt idx="117">2757</cx:pt>
          <cx:pt idx="118">727</cx:pt>
          <cx:pt idx="119">3496</cx:pt>
          <cx:pt idx="120">4293</cx:pt>
          <cx:pt idx="121">1357</cx:pt>
          <cx:pt idx="122">3596</cx:pt>
          <cx:pt idx="123">613</cx:pt>
          <cx:pt idx="124">2381</cx:pt>
          <cx:pt idx="125">2159</cx:pt>
          <cx:pt idx="126">119</cx:pt>
          <cx:pt idx="127">2798</cx:pt>
          <cx:pt idx="128">496</cx:pt>
          <cx:pt idx="129">3599</cx:pt>
          <cx:pt idx="130">1752</cx:pt>
          <cx:pt idx="131">3633</cx:pt>
          <cx:pt idx="132">3568</cx:pt>
          <cx:pt idx="133">4361</cx:pt>
          <cx:pt idx="134">1176</cx:pt>
          <cx:pt idx="135">1849</cx:pt>
          <cx:pt idx="136">3953</cx:pt>
          <cx:pt idx="137">3277</cx:pt>
          <cx:pt idx="138">1572</cx:pt>
          <cx:pt idx="139">2676</cx:pt>
          <cx:pt idx="140">3053</cx:pt>
          <cx:pt idx="141">2620</cx:pt>
          <cx:pt idx="142">4068</cx:pt>
          <cx:pt idx="143">172</cx:pt>
          <cx:pt idx="144">1040</cx:pt>
          <cx:pt idx="145">3574</cx:pt>
          <cx:pt idx="146">3659</cx:pt>
          <cx:pt idx="147">1991</cx:pt>
          <cx:pt idx="148">2043</cx:pt>
          <cx:pt idx="149">882</cx:pt>
          <cx:pt idx="150">4243</cx:pt>
          <cx:pt idx="151">2218</cx:pt>
          <cx:pt idx="152">97</cx:pt>
          <cx:pt idx="153">4928</cx:pt>
          <cx:pt idx="154">1982</cx:pt>
          <cx:pt idx="155">510</cx:pt>
          <cx:pt idx="156">2508</cx:pt>
          <cx:pt idx="157">4004</cx:pt>
          <cx:pt idx="158">494</cx:pt>
          <cx:pt idx="159">460</cx:pt>
          <cx:pt idx="160">1416</cx:pt>
          <cx:pt idx="161">4798</cx:pt>
          <cx:pt idx="162">732</cx:pt>
          <cx:pt idx="163">4008</cx:pt>
          <cx:pt idx="164">4868</cx:pt>
          <cx:pt idx="165">2600</cx:pt>
          <cx:pt idx="166">3247</cx:pt>
          <cx:pt idx="167">941</cx:pt>
          <cx:pt idx="168">1934</cx:pt>
          <cx:pt idx="169">4650</cx:pt>
          <cx:pt idx="170">4450</cx:pt>
          <cx:pt idx="171">2395</cx:pt>
          <cx:pt idx="172">4504</cx:pt>
          <cx:pt idx="173">3015</cx:pt>
          <cx:pt idx="174">4971</cx:pt>
          <cx:pt idx="175">2377</cx:pt>
          <cx:pt idx="176">212</cx:pt>
          <cx:pt idx="177">188</cx:pt>
          <cx:pt idx="178">4435</cx:pt>
          <cx:pt idx="179">1454</cx:pt>
          <cx:pt idx="180">2841</cx:pt>
          <cx:pt idx="181">1626</cx:pt>
          <cx:pt idx="182">111</cx:pt>
          <cx:pt idx="183">450</cx:pt>
          <cx:pt idx="184">3325</cx:pt>
          <cx:pt idx="185">3059</cx:pt>
          <cx:pt idx="186">1065</cx:pt>
          <cx:pt idx="187">2575</cx:pt>
          <cx:pt idx="188">1690</cx:pt>
          <cx:pt idx="189">1382</cx:pt>
          <cx:pt idx="190">1050</cx:pt>
          <cx:pt idx="191">2328</cx:pt>
          <cx:pt idx="192">4414</cx:pt>
          <cx:pt idx="193">3980</cx:pt>
          <cx:pt idx="194">3596</cx:pt>
          <cx:pt idx="195">1150</cx:pt>
          <cx:pt idx="196">1858</cx:pt>
          <cx:pt idx="197">1926</cx:pt>
          <cx:pt idx="198">2933</cx:pt>
          <cx:pt idx="199">2397</cx:pt>
          <cx:pt idx="200">1946</cx:pt>
          <cx:pt idx="201">2576</cx:pt>
          <cx:pt idx="202">2259</cx:pt>
          <cx:pt idx="203">1068</cx:pt>
          <cx:pt idx="204">2928</cx:pt>
          <cx:pt idx="205">3674</cx:pt>
          <cx:pt idx="206">130</cx:pt>
          <cx:pt idx="207">4873</cx:pt>
          <cx:pt idx="208">96</cx:pt>
          <cx:pt idx="209">110</cx:pt>
          <cx:pt idx="210">225</cx:pt>
          <cx:pt idx="211">4083</cx:pt>
          <cx:pt idx="212">2714</cx:pt>
          <cx:pt idx="213">674</cx:pt>
          <cx:pt idx="214">948</cx:pt>
          <cx:pt idx="215">933</cx:pt>
          <cx:pt idx="216">2914</cx:pt>
          <cx:pt idx="217">3928</cx:pt>
          <cx:pt idx="218">2559</cx:pt>
          <cx:pt idx="219">2571</cx:pt>
          <cx:pt idx="220">3834</cx:pt>
          <cx:pt idx="221">4714</cx:pt>
          <cx:pt idx="222">4800</cx:pt>
          <cx:pt idx="223">1610</cx:pt>
          <cx:pt idx="224">2780</cx:pt>
          <cx:pt idx="225">639</cx:pt>
          <cx:pt idx="226">1960</cx:pt>
          <cx:pt idx="227">1764</cx:pt>
          <cx:pt idx="228">967</cx:pt>
          <cx:pt idx="229">2086</cx:pt>
          <cx:pt idx="230">3288</cx:pt>
          <cx:pt idx="231">1486</cx:pt>
          <cx:pt idx="232">223</cx:pt>
          <cx:pt idx="233">2394</cx:pt>
          <cx:pt idx="234">4329</cx:pt>
          <cx:pt idx="235">2193</cx:pt>
          <cx:pt idx="236">3730</cx:pt>
          <cx:pt idx="237">2234</cx:pt>
          <cx:pt idx="238">718</cx:pt>
          <cx:pt idx="239">1594</cx:pt>
          <cx:pt idx="240">681</cx:pt>
          <cx:pt idx="241">428</cx:pt>
          <cx:pt idx="242">2542</cx:pt>
          <cx:pt idx="243">4763</cx:pt>
          <cx:pt idx="244">486</cx:pt>
          <cx:pt idx="245">4327</cx:pt>
          <cx:pt idx="246">2938</cx:pt>
          <cx:pt idx="247">1429</cx:pt>
          <cx:pt idx="248">2897</cx:pt>
          <cx:pt idx="249">274</cx:pt>
          <cx:pt idx="250">3910</cx:pt>
          <cx:pt idx="251">130</cx:pt>
          <cx:pt idx="252">2557</cx:pt>
          <cx:pt idx="253">3823</cx:pt>
          <cx:pt idx="254">4048</cx:pt>
          <cx:pt idx="255">3173</cx:pt>
          <cx:pt idx="256">3289</cx:pt>
          <cx:pt idx="257">4377</cx:pt>
          <cx:pt idx="258">995</cx:pt>
          <cx:pt idx="259">2299</cx:pt>
          <cx:pt idx="260">4644</cx:pt>
          <cx:pt idx="261">746</cx:pt>
          <cx:pt idx="262">2835</cx:pt>
          <cx:pt idx="263">3626</cx:pt>
          <cx:pt idx="264">1000</cx:pt>
          <cx:pt idx="265">368</cx:pt>
          <cx:pt idx="266">2229</cx:pt>
          <cx:pt idx="267">2643</cx:pt>
          <cx:pt idx="268">2647</cx:pt>
          <cx:pt idx="269">4497</cx:pt>
          <cx:pt idx="270">1121</cx:pt>
          <cx:pt idx="271">1525</cx:pt>
          <cx:pt idx="272">3488</cx:pt>
          <cx:pt idx="273">3009</cx:pt>
          <cx:pt idx="274">15</cx:pt>
          <cx:pt idx="275">3007</cx:pt>
          <cx:pt idx="276">4588</cx:pt>
          <cx:pt idx="277">73</cx:pt>
          <cx:pt idx="278">4635</cx:pt>
          <cx:pt idx="279">1882</cx:pt>
          <cx:pt idx="280">1690</cx:pt>
          <cx:pt idx="281">2572</cx:pt>
          <cx:pt idx="282">3865</cx:pt>
          <cx:pt idx="283">380</cx:pt>
          <cx:pt idx="284">3566</cx:pt>
          <cx:pt idx="285">1835</cx:pt>
          <cx:pt idx="286">1882</cx:pt>
          <cx:pt idx="287">525</cx:pt>
          <cx:pt idx="288">1025</cx:pt>
          <cx:pt idx="289">2508</cx:pt>
          <cx:pt idx="290">1546</cx:pt>
          <cx:pt idx="291">1955</cx:pt>
          <cx:pt idx="292">4889</cx:pt>
          <cx:pt idx="293">1185</cx:pt>
          <cx:pt idx="294">3040</cx:pt>
          <cx:pt idx="295">4729</cx:pt>
          <cx:pt idx="296">4193</cx:pt>
          <cx:pt idx="297">4626</cx:pt>
          <cx:pt idx="298">60</cx:pt>
          <cx:pt idx="299">2597</cx:pt>
          <cx:pt idx="300">260</cx:pt>
          <cx:pt idx="301">1544</cx:pt>
          <cx:pt idx="302">4528</cx:pt>
          <cx:pt idx="303">1127</cx:pt>
          <cx:pt idx="304">4542</cx:pt>
          <cx:pt idx="305">1436</cx:pt>
          <cx:pt idx="306">4438</cx:pt>
          <cx:pt idx="307">3130</cx:pt>
          <cx:pt idx="308">3379</cx:pt>
          <cx:pt idx="309">3696</cx:pt>
          <cx:pt idx="310">2416</cx:pt>
          <cx:pt idx="311">2856</cx:pt>
          <cx:pt idx="312">4177</cx:pt>
          <cx:pt idx="313">1912</cx:pt>
          <cx:pt idx="314">2388</cx:pt>
          <cx:pt idx="315">4216</cx:pt>
          <cx:pt idx="316">599</cx:pt>
          <cx:pt idx="317">804</cx:pt>
          <cx:pt idx="318">4565</cx:pt>
          <cx:pt idx="319">1095</cx:pt>
          <cx:pt idx="320">1512</cx:pt>
          <cx:pt idx="321">1422</cx:pt>
          <cx:pt idx="322">147</cx:pt>
          <cx:pt idx="323">4317</cx:pt>
          <cx:pt idx="324">3197</cx:pt>
          <cx:pt idx="325">1413</cx:pt>
          <cx:pt idx="326">747</cx:pt>
          <cx:pt idx="327">1099</cx:pt>
          <cx:pt idx="328">585</cx:pt>
          <cx:pt idx="329">615</cx:pt>
          <cx:pt idx="330">2634</cx:pt>
          <cx:pt idx="331">136</cx:pt>
          <cx:pt idx="332">4566</cx:pt>
          <cx:pt idx="333">3281</cx:pt>
          <cx:pt idx="334">1559</cx:pt>
          <cx:pt idx="335">3113</cx:pt>
          <cx:pt idx="336">3836</cx:pt>
          <cx:pt idx="337">1522</cx:pt>
          <cx:pt idx="338">1756</cx:pt>
          <cx:pt idx="339">1542</cx:pt>
          <cx:pt idx="340">77</cx:pt>
          <cx:pt idx="341">4356</cx:pt>
          <cx:pt idx="342">1989</cx:pt>
          <cx:pt idx="343">906</cx:pt>
          <cx:pt idx="344">4108</cx:pt>
          <cx:pt idx="345">333</cx:pt>
          <cx:pt idx="346">3847</cx:pt>
          <cx:pt idx="347">1423</cx:pt>
          <cx:pt idx="348">595</cx:pt>
          <cx:pt idx="349">4445</cx:pt>
          <cx:pt idx="350">144</cx:pt>
          <cx:pt idx="351">3428</cx:pt>
          <cx:pt idx="352">4919</cx:pt>
          <cx:pt idx="353">4905</cx:pt>
          <cx:pt idx="354">428</cx:pt>
          <cx:pt idx="355">1634</cx:pt>
          <cx:pt idx="356">4085</cx:pt>
          <cx:pt idx="357">2790</cx:pt>
          <cx:pt idx="358">2440</cx:pt>
          <cx:pt idx="359">2741</cx:pt>
          <cx:pt idx="360">4338</cx:pt>
          <cx:pt idx="361">2039</cx:pt>
          <cx:pt idx="362">2097</cx:pt>
          <cx:pt idx="363">2384</cx:pt>
          <cx:pt idx="364">4159</cx:pt>
          <cx:pt idx="365">2002</cx:pt>
          <cx:pt idx="366">782</cx:pt>
          <cx:pt idx="367">4056</cx:pt>
          <cx:pt idx="368">1341</cx:pt>
          <cx:pt idx="369">3028</cx:pt>
          <cx:pt idx="370">4799</cx:pt>
          <cx:pt idx="371">4556</cx:pt>
          <cx:pt idx="372">2965</cx:pt>
          <cx:pt idx="373">3556</cx:pt>
          <cx:pt idx="374">2901</cx:pt>
          <cx:pt idx="375">3520</cx:pt>
          <cx:pt idx="376">3983</cx:pt>
          <cx:pt idx="377">4632</cx:pt>
          <cx:pt idx="378">314</cx:pt>
          <cx:pt idx="379">4012</cx:pt>
          <cx:pt idx="380">2356</cx:pt>
          <cx:pt idx="381">1824</cx:pt>
          <cx:pt idx="382">4236</cx:pt>
          <cx:pt idx="383">2102</cx:pt>
          <cx:pt idx="384">1876</cx:pt>
          <cx:pt idx="385">242</cx:pt>
          <cx:pt idx="386">4531</cx:pt>
          <cx:pt idx="387">959</cx:pt>
          <cx:pt idx="388">2156</cx:pt>
          <cx:pt idx="389">1442</cx:pt>
          <cx:pt idx="390">4586</cx:pt>
          <cx:pt idx="391">4170</cx:pt>
          <cx:pt idx="392">1294</cx:pt>
          <cx:pt idx="393">2460</cx:pt>
          <cx:pt idx="394">3276</cx:pt>
          <cx:pt idx="395">941</cx:pt>
          <cx:pt idx="396">4062</cx:pt>
          <cx:pt idx="397">4322</cx:pt>
          <cx:pt idx="398">1456</cx:pt>
          <cx:pt idx="399">1281</cx:pt>
          <cx:pt idx="400">1926</cx:pt>
          <cx:pt idx="401">1368</cx:pt>
          <cx:pt idx="402">571</cx:pt>
          <cx:pt idx="403">3807</cx:pt>
          <cx:pt idx="404">3424</cx:pt>
          <cx:pt idx="405">1428</cx:pt>
          <cx:pt idx="406">2387</cx:pt>
          <cx:pt idx="407">218</cx:pt>
          <cx:pt idx="408">68</cx:pt>
          <cx:pt idx="409">2749</cx:pt>
          <cx:pt idx="410">4942</cx:pt>
          <cx:pt idx="411">1813</cx:pt>
          <cx:pt idx="412">318</cx:pt>
          <cx:pt idx="413">4216</cx:pt>
          <cx:pt idx="414">3003</cx:pt>
          <cx:pt idx="415">342</cx:pt>
          <cx:pt idx="416">2124</cx:pt>
          <cx:pt idx="417">1016</cx:pt>
          <cx:pt idx="418">1925</cx:pt>
          <cx:pt idx="419">3773</cx:pt>
          <cx:pt idx="420">1231</cx:pt>
          <cx:pt idx="421">62</cx:pt>
          <cx:pt idx="422">1580</cx:pt>
          <cx:pt idx="423">74</cx:pt>
          <cx:pt idx="424">3452</cx:pt>
          <cx:pt idx="425">4792</cx:pt>
          <cx:pt idx="426">4378</cx:pt>
          <cx:pt idx="427">1713</cx:pt>
          <cx:pt idx="428">1201</cx:pt>
          <cx:pt idx="429">416</cx:pt>
          <cx:pt idx="430">17</cx:pt>
          <cx:pt idx="431">4820</cx:pt>
          <cx:pt idx="432">1758</cx:pt>
          <cx:pt idx="433">2568</cx:pt>
          <cx:pt idx="434">4235</cx:pt>
          <cx:pt idx="435">3775</cx:pt>
          <cx:pt idx="436">92</cx:pt>
          <cx:pt idx="437">72</cx:pt>
          <cx:pt idx="438">2488</cx:pt>
          <cx:pt idx="439">2666</cx:pt>
          <cx:pt idx="440">4221</cx:pt>
          <cx:pt idx="441">4569</cx:pt>
          <cx:pt idx="442">2695</cx:pt>
          <cx:pt idx="443">48</cx:pt>
          <cx:pt idx="444">1526</cx:pt>
          <cx:pt idx="445">4934</cx:pt>
          <cx:pt idx="446">628</cx:pt>
          <cx:pt idx="447">167</cx:pt>
          <cx:pt idx="448">1309</cx:pt>
          <cx:pt idx="449">710</cx:pt>
          <cx:pt idx="450">106</cx:pt>
          <cx:pt idx="451">2652</cx:pt>
          <cx:pt idx="452">4879</cx:pt>
          <cx:pt idx="453">1426</cx:pt>
          <cx:pt idx="454">1504</cx:pt>
          <cx:pt idx="455">1518</cx:pt>
          <cx:pt idx="456">708</cx:pt>
          <cx:pt idx="457">4651</cx:pt>
          <cx:pt idx="458">4397</cx:pt>
          <cx:pt idx="459">1360</cx:pt>
          <cx:pt idx="460">4155</cx:pt>
          <cx:pt idx="461">1289</cx:pt>
          <cx:pt idx="462">2922</cx:pt>
          <cx:pt idx="463">28</cx:pt>
          <cx:pt idx="464">3083</cx:pt>
          <cx:pt idx="465">547</cx:pt>
          <cx:pt idx="466">239</cx:pt>
          <cx:pt idx="467">3516</cx:pt>
          <cx:pt idx="468">4031</cx:pt>
          <cx:pt idx="469">3408</cx:pt>
          <cx:pt idx="470">3849</cx:pt>
          <cx:pt idx="471">1813</cx:pt>
          <cx:pt idx="472">2084</cx:pt>
          <cx:pt idx="473">749</cx:pt>
          <cx:pt idx="474">3157</cx:pt>
          <cx:pt idx="475">173</cx:pt>
          <cx:pt idx="476">2925</cx:pt>
          <cx:pt idx="477">3182</cx:pt>
          <cx:pt idx="478">2432</cx:pt>
          <cx:pt idx="479">414</cx:pt>
          <cx:pt idx="480">888</cx:pt>
          <cx:pt idx="481">1058</cx:pt>
          <cx:pt idx="482">2067</cx:pt>
          <cx:pt idx="483">3763</cx:pt>
          <cx:pt idx="484">957</cx:pt>
          <cx:pt idx="485">3003</cx:pt>
          <cx:pt idx="486">354</cx:pt>
          <cx:pt idx="487">4922</cx:pt>
          <cx:pt idx="488">2083</cx:pt>
          <cx:pt idx="489">2098</cx:pt>
          <cx:pt idx="490">2022</cx:pt>
          <cx:pt idx="491">3791</cx:pt>
          <cx:pt idx="492">728</cx:pt>
          <cx:pt idx="493">3448</cx:pt>
          <cx:pt idx="494">3930</cx:pt>
          <cx:pt idx="495">3702</cx:pt>
          <cx:pt idx="496">2400</cx:pt>
          <cx:pt idx="497">548</cx:pt>
          <cx:pt idx="498">4702</cx:pt>
          <cx:pt idx="499">2821</cx:pt>
          <cx:pt idx="500">484</cx:pt>
          <cx:pt idx="501">2871</cx:pt>
          <cx:pt idx="502">4783</cx:pt>
          <cx:pt idx="503">2725</cx:pt>
          <cx:pt idx="504">4400</cx:pt>
          <cx:pt idx="505">2218</cx:pt>
          <cx:pt idx="506">4552</cx:pt>
          <cx:pt idx="507">4125</cx:pt>
          <cx:pt idx="508">424</cx:pt>
          <cx:pt idx="509">2418</cx:pt>
          <cx:pt idx="510">756</cx:pt>
          <cx:pt idx="511">754</cx:pt>
          <cx:pt idx="512">3476</cx:pt>
          <cx:pt idx="513">290</cx:pt>
          <cx:pt idx="514">987</cx:pt>
          <cx:pt idx="515">4972</cx:pt>
          <cx:pt idx="516">1628</cx:pt>
          <cx:pt idx="517">1285</cx:pt>
          <cx:pt idx="518">1960</cx:pt>
          <cx:pt idx="519">771</cx:pt>
          <cx:pt idx="520">1785</cx:pt>
          <cx:pt idx="521">2760</cx:pt>
          <cx:pt idx="522">388</cx:pt>
          <cx:pt idx="523">2385</cx:pt>
          <cx:pt idx="524">3714</cx:pt>
          <cx:pt idx="525">2015</cx:pt>
          <cx:pt idx="526">3201</cx:pt>
          <cx:pt idx="527">3426</cx:pt>
          <cx:pt idx="528">3366</cx:pt>
          <cx:pt idx="529">125</cx:pt>
          <cx:pt idx="530">4037</cx:pt>
          <cx:pt idx="531">4348</cx:pt>
          <cx:pt idx="532">546</cx:pt>
          <cx:pt idx="533">2785</cx:pt>
          <cx:pt idx="534">3308</cx:pt>
          <cx:pt idx="535">527</cx:pt>
          <cx:pt idx="536">837</cx:pt>
          <cx:pt idx="537">371</cx:pt>
          <cx:pt idx="538">877</cx:pt>
          <cx:pt idx="539">4873</cx:pt>
          <cx:pt idx="540">4194</cx:pt>
          <cx:pt idx="541">3118</cx:pt>
          <cx:pt idx="542">2088</cx:pt>
          <cx:pt idx="543">3468</cx:pt>
          <cx:pt idx="544">3183</cx:pt>
          <cx:pt idx="545">4070</cx:pt>
          <cx:pt idx="546">4147</cx:pt>
          <cx:pt idx="547">255</cx:pt>
          <cx:pt idx="548">3278</cx:pt>
          <cx:pt idx="549">213</cx:pt>
          <cx:pt idx="550">2886</cx:pt>
          <cx:pt idx="551">1901</cx:pt>
          <cx:pt idx="552">4456</cx:pt>
          <cx:pt idx="553">237</cx:pt>
          <cx:pt idx="554">4659</cx:pt>
          <cx:pt idx="555">4906</cx:pt>
          <cx:pt idx="556">1155</cx:pt>
          <cx:pt idx="557">4378</cx:pt>
          <cx:pt idx="558">1674</cx:pt>
          <cx:pt idx="559">2407</cx:pt>
          <cx:pt idx="560">2636</cx:pt>
          <cx:pt idx="561">4020</cx:pt>
          <cx:pt idx="562">4127</cx:pt>
          <cx:pt idx="563">4503</cx:pt>
          <cx:pt idx="564">1080</cx:pt>
          <cx:pt idx="565">1610</cx:pt>
          <cx:pt idx="566">1535</cx:pt>
          <cx:pt idx="567">3840</cx:pt>
          <cx:pt idx="568">1108</cx:pt>
          <cx:pt idx="569">4510</cx:pt>
          <cx:pt idx="570">1042</cx:pt>
          <cx:pt idx="571">2175</cx:pt>
          <cx:pt idx="572">1311</cx:pt>
          <cx:pt idx="573">4201</cx:pt>
          <cx:pt idx="574">513</cx:pt>
          <cx:pt idx="575">1330</cx:pt>
          <cx:pt idx="576">3689</cx:pt>
          <cx:pt idx="577">670</cx:pt>
          <cx:pt idx="578">544</cx:pt>
          <cx:pt idx="579">1392</cx:pt>
          <cx:pt idx="580">3199</cx:pt>
          <cx:pt idx="581">4204</cx:pt>
          <cx:pt idx="582">1461</cx:pt>
          <cx:pt idx="583">658</cx:pt>
          <cx:pt idx="584">423</cx:pt>
          <cx:pt idx="585">2824</cx:pt>
          <cx:pt idx="586">2657</cx:pt>
          <cx:pt idx="587">2213</cx:pt>
          <cx:pt idx="588">3455</cx:pt>
          <cx:pt idx="589">3334</cx:pt>
          <cx:pt idx="590">105</cx:pt>
          <cx:pt idx="591">1404</cx:pt>
          <cx:pt idx="592">1017</cx:pt>
          <cx:pt idx="593">2812</cx:pt>
          <cx:pt idx="594">959</cx:pt>
          <cx:pt idx="595">1870</cx:pt>
          <cx:pt idx="596">2984</cx:pt>
          <cx:pt idx="597">3379</cx:pt>
          <cx:pt idx="598">4990</cx:pt>
          <cx:pt idx="599">2554</cx:pt>
          <cx:pt idx="600">4307</cx:pt>
          <cx:pt idx="601">3124</cx:pt>
          <cx:pt idx="602">1261</cx:pt>
          <cx:pt idx="603">1290</cx:pt>
          <cx:pt idx="604">874</cx:pt>
          <cx:pt idx="605">1734</cx:pt>
          <cx:pt idx="606">2444</cx:pt>
          <cx:pt idx="607">1529</cx:pt>
          <cx:pt idx="608">1976</cx:pt>
          <cx:pt idx="609">3452</cx:pt>
          <cx:pt idx="610">2610</cx:pt>
          <cx:pt idx="611">3152</cx:pt>
          <cx:pt idx="612">4963</cx:pt>
          <cx:pt idx="613">3290</cx:pt>
          <cx:pt idx="614">2596</cx:pt>
          <cx:pt idx="615">745</cx:pt>
          <cx:pt idx="616">668</cx:pt>
          <cx:pt idx="617">3282</cx:pt>
          <cx:pt idx="618">1510</cx:pt>
          <cx:pt idx="619">1206</cx:pt>
          <cx:pt idx="620">168</cx:pt>
          <cx:pt idx="621">1303</cx:pt>
          <cx:pt idx="622">1365</cx:pt>
          <cx:pt idx="623">1563</cx:pt>
          <cx:pt idx="624">1172</cx:pt>
          <cx:pt idx="625">1704</cx:pt>
          <cx:pt idx="626">4421</cx:pt>
          <cx:pt idx="627">2964</cx:pt>
          <cx:pt idx="628">1094</cx:pt>
          <cx:pt idx="629">3674</cx:pt>
          <cx:pt idx="630">296</cx:pt>
          <cx:pt idx="631">4164</cx:pt>
          <cx:pt idx="632">3349</cx:pt>
          <cx:pt idx="633">2830</cx:pt>
          <cx:pt idx="634">2409</cx:pt>
          <cx:pt idx="635">2872</cx:pt>
          <cx:pt idx="636">1364</cx:pt>
          <cx:pt idx="637">473</cx:pt>
          <cx:pt idx="638">4883</cx:pt>
          <cx:pt idx="639">99</cx:pt>
          <cx:pt idx="640">2284</cx:pt>
          <cx:pt idx="641">3505</cx:pt>
          <cx:pt idx="642">412</cx:pt>
          <cx:pt idx="643">4867</cx:pt>
          <cx:pt idx="644">2560</cx:pt>
          <cx:pt idx="645">4269</cx:pt>
          <cx:pt idx="646">1317</cx:pt>
          <cx:pt idx="647">2936</cx:pt>
          <cx:pt idx="648">905</cx:pt>
          <cx:pt idx="649">4513</cx:pt>
          <cx:pt idx="650">1153</cx:pt>
          <cx:pt idx="651">1506</cx:pt>
          <cx:pt idx="652">3817</cx:pt>
          <cx:pt idx="653">4662</cx:pt>
          <cx:pt idx="654">3708</cx:pt>
          <cx:pt idx="655">1256</cx:pt>
          <cx:pt idx="656">1792</cx:pt>
          <cx:pt idx="657">402</cx:pt>
          <cx:pt idx="658">1271</cx:pt>
          <cx:pt idx="659">4537</cx:pt>
          <cx:pt idx="660">4815</cx:pt>
          <cx:pt idx="661">3510</cx:pt>
          <cx:pt idx="662">4789</cx:pt>
          <cx:pt idx="663">863</cx:pt>
          <cx:pt idx="664">1584</cx:pt>
          <cx:pt idx="665">3178</cx:pt>
          <cx:pt idx="666">4108</cx:pt>
          <cx:pt idx="667">2562</cx:pt>
          <cx:pt idx="668">3499</cx:pt>
          <cx:pt idx="669">3645</cx:pt>
          <cx:pt idx="670">2989</cx:pt>
          <cx:pt idx="671">55</cx:pt>
          <cx:pt idx="672">1850</cx:pt>
          <cx:pt idx="673">4672</cx:pt>
          <cx:pt idx="674">2615</cx:pt>
          <cx:pt idx="675">4927</cx:pt>
          <cx:pt idx="676">3069</cx:pt>
          <cx:pt idx="677">1906</cx:pt>
          <cx:pt idx="678">105</cx:pt>
          <cx:pt idx="679">4</cx:pt>
          <cx:pt idx="680">1651</cx:pt>
          <cx:pt idx="681">1828</cx:pt>
          <cx:pt idx="682">396</cx:pt>
          <cx:pt idx="683">809</cx:pt>
          <cx:pt idx="684">1431</cx:pt>
          <cx:pt idx="685">2394</cx:pt>
          <cx:pt idx="686">4685</cx:pt>
          <cx:pt idx="687">4332</cx:pt>
          <cx:pt idx="688">851</cx:pt>
          <cx:pt idx="689">2261</cx:pt>
          <cx:pt idx="690">1500</cx:pt>
          <cx:pt idx="691">2130</cx:pt>
          <cx:pt idx="692">4308</cx:pt>
          <cx:pt idx="693">421</cx:pt>
          <cx:pt idx="694">2163</cx:pt>
          <cx:pt idx="695">3354</cx:pt>
          <cx:pt idx="696">3702</cx:pt>
          <cx:pt idx="697">3758</cx:pt>
          <cx:pt idx="698">3942</cx:pt>
          <cx:pt idx="699">2242</cx:pt>
          <cx:pt idx="700">2561</cx:pt>
          <cx:pt idx="701">2465</cx:pt>
          <cx:pt idx="702">4435</cx:pt>
          <cx:pt idx="703">4116</cx:pt>
          <cx:pt idx="704">944</cx:pt>
          <cx:pt idx="705">4219</cx:pt>
          <cx:pt idx="706">4311</cx:pt>
          <cx:pt idx="707">1972</cx:pt>
          <cx:pt idx="708">2132</cx:pt>
          <cx:pt idx="709">2370</cx:pt>
          <cx:pt idx="710">1312</cx:pt>
          <cx:pt idx="711">4920</cx:pt>
          <cx:pt idx="712">2897</cx:pt>
          <cx:pt idx="713">1275</cx:pt>
          <cx:pt idx="714">340</cx:pt>
          <cx:pt idx="715">444</cx:pt>
          <cx:pt idx="716">292</cx:pt>
          <cx:pt idx="717">53</cx:pt>
          <cx:pt idx="718">1638</cx:pt>
          <cx:pt idx="719">3542</cx:pt>
          <cx:pt idx="720">4935</cx:pt>
          <cx:pt idx="721">1216</cx:pt>
          <cx:pt idx="722">4409</cx:pt>
          <cx:pt idx="723">2853</cx:pt>
          <cx:pt idx="724">1252</cx:pt>
          <cx:pt idx="725">3027</cx:pt>
          <cx:pt idx="726">1228</cx:pt>
          <cx:pt idx="727">3616</cx:pt>
          <cx:pt idx="728">3913</cx:pt>
          <cx:pt idx="729">775</cx:pt>
          <cx:pt idx="730">2536</cx:pt>
          <cx:pt idx="731">2331</cx:pt>
          <cx:pt idx="732">2953</cx:pt>
          <cx:pt idx="733">868</cx:pt>
          <cx:pt idx="734">4808</cx:pt>
          <cx:pt idx="735">4177</cx:pt>
          <cx:pt idx="736">564</cx:pt>
          <cx:pt idx="737">1702</cx:pt>
          <cx:pt idx="738">249</cx:pt>
          <cx:pt idx="739">30</cx:pt>
          <cx:pt idx="740">3842</cx:pt>
          <cx:pt idx="741">1299</cx:pt>
          <cx:pt idx="742">2346</cx:pt>
          <cx:pt idx="743">215</cx:pt>
          <cx:pt idx="744">3062</cx:pt>
          <cx:pt idx="745">2978</cx:pt>
          <cx:pt idx="746">1984</cx:pt>
          <cx:pt idx="747">945</cx:pt>
          <cx:pt idx="748">4134</cx:pt>
          <cx:pt idx="749">3741</cx:pt>
          <cx:pt idx="750">1408</cx:pt>
          <cx:pt idx="751">1917</cx:pt>
          <cx:pt idx="752">1986</cx:pt>
          <cx:pt idx="753">3254</cx:pt>
          <cx:pt idx="754">3648</cx:pt>
          <cx:pt idx="755">3552</cx:pt>
          <cx:pt idx="756">150</cx:pt>
          <cx:pt idx="757">786</cx:pt>
          <cx:pt idx="758">1808</cx:pt>
          <cx:pt idx="759">3091</cx:pt>
          <cx:pt idx="760">3697</cx:pt>
          <cx:pt idx="761">4835</cx:pt>
          <cx:pt idx="762">2023</cx:pt>
          <cx:pt idx="763">1005</cx:pt>
          <cx:pt idx="764">876</cx:pt>
          <cx:pt idx="765">2089</cx:pt>
          <cx:pt idx="766">772</cx:pt>
          <cx:pt idx="767">373</cx:pt>
          <cx:pt idx="768">3425</cx:pt>
          <cx:pt idx="769">4422</cx:pt>
          <cx:pt idx="770">4980</cx:pt>
          <cx:pt idx="771">1367</cx:pt>
          <cx:pt idx="772">2728</cx:pt>
          <cx:pt idx="773">1556</cx:pt>
          <cx:pt idx="774">4566</cx:pt>
          <cx:pt idx="775">2969</cx:pt>
          <cx:pt idx="776">3421</cx:pt>
          <cx:pt idx="777">2535</cx:pt>
          <cx:pt idx="778">290</cx:pt>
          <cx:pt idx="779">756</cx:pt>
          <cx:pt idx="780">947</cx:pt>
          <cx:pt idx="781">2138</cx:pt>
          <cx:pt idx="782">3151</cx:pt>
          <cx:pt idx="783">670</cx:pt>
          <cx:pt idx="784">3037</cx:pt>
          <cx:pt idx="785">3712</cx:pt>
          <cx:pt idx="786">2029</cx:pt>
          <cx:pt idx="787">2406</cx:pt>
          <cx:pt idx="788">3264</cx:pt>
          <cx:pt idx="789">1135</cx:pt>
          <cx:pt idx="790">3761</cx:pt>
          <cx:pt idx="791">3633</cx:pt>
          <cx:pt idx="792">3308</cx:pt>
          <cx:pt idx="793">1311</cx:pt>
          <cx:pt idx="794">4333</cx:pt>
          <cx:pt idx="795">4575</cx:pt>
          <cx:pt idx="796">2448</cx:pt>
          <cx:pt idx="797">1072</cx:pt>
          <cx:pt idx="798">1784</cx:pt>
          <cx:pt idx="799">3787</cx:pt>
          <cx:pt idx="800">4477</cx:pt>
          <cx:pt idx="801">711</cx:pt>
          <cx:pt idx="802">3711</cx:pt>
          <cx:pt idx="803">2534</cx:pt>
          <cx:pt idx="804">2624</cx:pt>
          <cx:pt idx="805">3617</cx:pt>
          <cx:pt idx="806">3078</cx:pt>
          <cx:pt idx="807">164</cx:pt>
          <cx:pt idx="808">2805</cx:pt>
          <cx:pt idx="809">3848</cx:pt>
          <cx:pt idx="810">836</cx:pt>
          <cx:pt idx="811">2761</cx:pt>
          <cx:pt idx="812">4633</cx:pt>
          <cx:pt idx="813">4260</cx:pt>
          <cx:pt idx="814">447</cx:pt>
          <cx:pt idx="815">1298</cx:pt>
          <cx:pt idx="816">3445</cx:pt>
          <cx:pt idx="817">3039</cx:pt>
          <cx:pt idx="818">3815</cx:pt>
          <cx:pt idx="819">1135</cx:pt>
          <cx:pt idx="820">2706</cx:pt>
          <cx:pt idx="821">3828</cx:pt>
          <cx:pt idx="822">4409</cx:pt>
          <cx:pt idx="823">433</cx:pt>
          <cx:pt idx="824">2554</cx:pt>
          <cx:pt idx="825">1348</cx:pt>
          <cx:pt idx="826">1375</cx:pt>
          <cx:pt idx="827">3630</cx:pt>
          <cx:pt idx="828">1457</cx:pt>
          <cx:pt idx="829">3332</cx:pt>
          <cx:pt idx="830">3815</cx:pt>
          <cx:pt idx="831">3859</cx:pt>
          <cx:pt idx="832">3923</cx:pt>
          <cx:pt idx="833">4486</cx:pt>
          <cx:pt idx="834">993</cx:pt>
          <cx:pt idx="835">631</cx:pt>
          <cx:pt idx="836">214</cx:pt>
          <cx:pt idx="837">2327</cx:pt>
          <cx:pt idx="838">3679</cx:pt>
          <cx:pt idx="839">2238</cx:pt>
          <cx:pt idx="840">3655</cx:pt>
          <cx:pt idx="841">1587</cx:pt>
          <cx:pt idx="842">4501</cx:pt>
          <cx:pt idx="843">1910</cx:pt>
          <cx:pt idx="844">2731</cx:pt>
          <cx:pt idx="845">4517</cx:pt>
          <cx:pt idx="846">1238</cx:pt>
          <cx:pt idx="847">1786</cx:pt>
          <cx:pt idx="848">1683</cx:pt>
          <cx:pt idx="849">996</cx:pt>
          <cx:pt idx="850">608</cx:pt>
          <cx:pt idx="851">4650</cx:pt>
          <cx:pt idx="852">1340</cx:pt>
          <cx:pt idx="853">1821</cx:pt>
          <cx:pt idx="854">3020</cx:pt>
          <cx:pt idx="855">1243</cx:pt>
          <cx:pt idx="856">540</cx:pt>
          <cx:pt idx="857">2583</cx:pt>
          <cx:pt idx="858">3463</cx:pt>
          <cx:pt idx="859">4130</cx:pt>
          <cx:pt idx="860">3918</cx:pt>
          <cx:pt idx="861">4264</cx:pt>
          <cx:pt idx="862">1485</cx:pt>
          <cx:pt idx="863">3508</cx:pt>
          <cx:pt idx="864">3433</cx:pt>
          <cx:pt idx="865">3610</cx:pt>
          <cx:pt idx="866">3307</cx:pt>
          <cx:pt idx="867">868</cx:pt>
          <cx:pt idx="868">4358</cx:pt>
          <cx:pt idx="869">4552</cx:pt>
          <cx:pt idx="870">3003</cx:pt>
          <cx:pt idx="871">783</cx:pt>
          <cx:pt idx="872">3578</cx:pt>
          <cx:pt idx="873">1952</cx:pt>
          <cx:pt idx="874">860</cx:pt>
          <cx:pt idx="875">3</cx:pt>
          <cx:pt idx="876">1836</cx:pt>
          <cx:pt idx="877">808</cx:pt>
          <cx:pt idx="878">2141</cx:pt>
          <cx:pt idx="879">1254</cx:pt>
          <cx:pt idx="880">2864</cx:pt>
          <cx:pt idx="881">4589</cx:pt>
          <cx:pt idx="882">2932</cx:pt>
          <cx:pt idx="883">1697</cx:pt>
          <cx:pt idx="884">1411</cx:pt>
          <cx:pt idx="885">3437</cx:pt>
          <cx:pt idx="886">4509</cx:pt>
          <cx:pt idx="887">3165</cx:pt>
          <cx:pt idx="888">2538</cx:pt>
          <cx:pt idx="889">245</cx:pt>
          <cx:pt idx="890">1364</cx:pt>
          <cx:pt idx="891">732</cx:pt>
          <cx:pt idx="892">4976</cx:pt>
          <cx:pt idx="893">4176</cx:pt>
          <cx:pt idx="894">2919</cx:pt>
          <cx:pt idx="895">3081</cx:pt>
          <cx:pt idx="896">3138</cx:pt>
          <cx:pt idx="897">1180</cx:pt>
          <cx:pt idx="898">4518</cx:pt>
          <cx:pt idx="899">3843</cx:pt>
          <cx:pt idx="900">3604</cx:pt>
          <cx:pt idx="901">4445</cx:pt>
          <cx:pt idx="902">1587</cx:pt>
          <cx:pt idx="903">4400</cx:pt>
          <cx:pt idx="904">2891</cx:pt>
          <cx:pt idx="905">1363</cx:pt>
          <cx:pt idx="906">2323</cx:pt>
          <cx:pt idx="907">4291</cx:pt>
          <cx:pt idx="908">4938</cx:pt>
          <cx:pt idx="909">913</cx:pt>
          <cx:pt idx="910">3925</cx:pt>
          <cx:pt idx="911">2517</cx:pt>
          <cx:pt idx="912">2070</cx:pt>
          <cx:pt idx="913">4726</cx:pt>
          <cx:pt idx="914">1536</cx:pt>
          <cx:pt idx="915">2113</cx:pt>
          <cx:pt idx="916">428</cx:pt>
          <cx:pt idx="917">2336</cx:pt>
          <cx:pt idx="918">2344</cx:pt>
          <cx:pt idx="919">1351</cx:pt>
          <cx:pt idx="920">165</cx:pt>
          <cx:pt idx="921">3411</cx:pt>
          <cx:pt idx="922">615</cx:pt>
          <cx:pt idx="923">1538</cx:pt>
          <cx:pt idx="924">1835</cx:pt>
          <cx:pt idx="925">3515</cx:pt>
          <cx:pt idx="926">1657</cx:pt>
          <cx:pt idx="927">2209</cx:pt>
          <cx:pt idx="928">1327</cx:pt>
          <cx:pt idx="929">4337</cx:pt>
          <cx:pt idx="930">398</cx:pt>
          <cx:pt idx="931">1508</cx:pt>
          <cx:pt idx="932">249</cx:pt>
          <cx:pt idx="933">954</cx:pt>
          <cx:pt idx="934">3313</cx:pt>
          <cx:pt idx="935">1790</cx:pt>
          <cx:pt idx="936">2864</cx:pt>
          <cx:pt idx="937">1872</cx:pt>
          <cx:pt idx="938">2521</cx:pt>
          <cx:pt idx="939">4426</cx:pt>
          <cx:pt idx="940">3100</cx:pt>
          <cx:pt idx="941">4273</cx:pt>
          <cx:pt idx="942">1254</cx:pt>
          <cx:pt idx="943">4817</cx:pt>
          <cx:pt idx="944">2330</cx:pt>
          <cx:pt idx="945">244</cx:pt>
          <cx:pt idx="946">1539</cx:pt>
          <cx:pt idx="947">2657</cx:pt>
          <cx:pt idx="948">4851</cx:pt>
          <cx:pt idx="949">2341</cx:pt>
          <cx:pt idx="950">3356</cx:pt>
          <cx:pt idx="951">228</cx:pt>
          <cx:pt idx="952">2821</cx:pt>
          <cx:pt idx="953">4380</cx:pt>
          <cx:pt idx="954">2131</cx:pt>
          <cx:pt idx="955">3589</cx:pt>
          <cx:pt idx="956">4162</cx:pt>
          <cx:pt idx="957">1013</cx:pt>
          <cx:pt idx="958">2731</cx:pt>
          <cx:pt idx="959">833</cx:pt>
          <cx:pt idx="960">2428</cx:pt>
          <cx:pt idx="961">4555</cx:pt>
          <cx:pt idx="962">4777</cx:pt>
          <cx:pt idx="963">459</cx:pt>
          <cx:pt idx="964">2644</cx:pt>
          <cx:pt idx="965">2678</cx:pt>
          <cx:pt idx="966">1129</cx:pt>
          <cx:pt idx="967">1258</cx:pt>
          <cx:pt idx="968">3213</cx:pt>
          <cx:pt idx="969">4127</cx:pt>
          <cx:pt idx="970">1961</cx:pt>
          <cx:pt idx="971">1708</cx:pt>
          <cx:pt idx="972">2288</cx:pt>
          <cx:pt idx="973">4570</cx:pt>
          <cx:pt idx="974">2547</cx:pt>
          <cx:pt idx="975">4655</cx:pt>
          <cx:pt idx="976">1656</cx:pt>
          <cx:pt idx="977">2761</cx:pt>
          <cx:pt idx="978">773</cx:pt>
          <cx:pt idx="979">1652</cx:pt>
          <cx:pt idx="980">1037</cx:pt>
          <cx:pt idx="981">4505</cx:pt>
          <cx:pt idx="982">3648</cx:pt>
          <cx:pt idx="983">4015</cx:pt>
          <cx:pt idx="984">2050</cx:pt>
          <cx:pt idx="985">2390</cx:pt>
          <cx:pt idx="986">3079</cx:pt>
          <cx:pt idx="987">4111</cx:pt>
          <cx:pt idx="988">3221</cx:pt>
          <cx:pt idx="989">2461</cx:pt>
          <cx:pt idx="990">2858</cx:pt>
          <cx:pt idx="991">4076</cx:pt>
          <cx:pt idx="992">2163</cx:pt>
          <cx:pt idx="993">3726</cx:pt>
          <cx:pt idx="994">47</cx:pt>
          <cx:pt idx="995">4742</cx:pt>
          <cx:pt idx="996">2910</cx:pt>
          <cx:pt idx="997">1180</cx:pt>
          <cx:pt idx="998">1965</cx:pt>
          <cx:pt idx="999">3179</cx:pt>
        </cx:lvl>
      </cx:numDim>
    </cx:data>
  </cx:chartData>
  <cx:chart>
    <cx:title pos="t" align="ctr" overlay="0">
      <cx:tx>
        <cx:rich>
          <a:bodyPr spcFirstLastPara="1" vertOverflow="ellipsis" horzOverflow="overflow" wrap="square" lIns="0" tIns="0" rIns="0" bIns="0" anchor="ctr" anchorCtr="1"/>
          <a:lstStyle/>
          <a:p>
            <a:pPr algn="ctr" rtl="0">
              <a:defRPr/>
            </a:pPr>
            <a:r>
              <a:rPr lang="en-IN"/>
              <a:t>Loyalty Points Distribution</a:t>
            </a:r>
            <a:endParaRPr lang="en-US" sz="1400" b="0" i="0" u="none" strike="noStrike" baseline="0">
              <a:solidFill>
                <a:sysClr val="windowText" lastClr="000000">
                  <a:lumMod val="65000"/>
                  <a:lumOff val="35000"/>
                </a:sysClr>
              </a:solidFill>
              <a:latin typeface="Calibri" panose="020F0502020204030204"/>
            </a:endParaRPr>
          </a:p>
        </cx:rich>
      </cx:tx>
    </cx:title>
    <cx:plotArea>
      <cx:plotAreaRegion>
        <cx:series layoutId="clusteredColumn" uniqueId="{580E6FD9-96F9-4AE4-ABDC-541C34CA3A9E}">
          <cx:tx>
            <cx:txData>
              <cx:f>'[Streaming Services_Kiran Patel.xlsx]Calculated_Fields'!$I$1</cx:f>
              <cx:v>Loyalty_Points</cx:v>
            </cx:txData>
          </cx:tx>
          <cx:dataId val="0"/>
          <cx:layoutPr>
            <cx:binning intervalClosed="r"/>
          </cx:layoutPr>
        </cx:series>
      </cx:plotAreaRegion>
      <cx:axis id="0">
        <cx:catScaling gapWidth="0"/>
        <cx:tickLabels/>
      </cx:axis>
      <cx:axis id="1">
        <cx:valScaling/>
        <cx:majorGridlines/>
        <cx:tickLabels/>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1378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kiranpatelpatel18@gmail.com"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22.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1.svg"/><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image" Target="../media/image17.svg"/><Relationship Id="rId11" Type="http://schemas.openxmlformats.org/officeDocument/2006/relationships/image" Target="../media/image20.png"/><Relationship Id="rId5" Type="http://schemas.openxmlformats.org/officeDocument/2006/relationships/image" Target="../media/image16.png"/><Relationship Id="rId10" Type="http://schemas.openxmlformats.org/officeDocument/2006/relationships/chart" Target="../charts/chart5.xml"/><Relationship Id="rId4" Type="http://schemas.openxmlformats.org/officeDocument/2006/relationships/image" Target="../media/image15.svg"/><Relationship Id="rId9" Type="http://schemas.openxmlformats.org/officeDocument/2006/relationships/chart" Target="../charts/chart4.xml"/><Relationship Id="rId14" Type="http://schemas.openxmlformats.org/officeDocument/2006/relationships/image" Target="../media/image23.svg"/></Relationships>
</file>

<file path=ppt/slides/_rels/slide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11.xml"/><Relationship Id="rId5" Type="http://schemas.openxmlformats.org/officeDocument/2006/relationships/image" Target="../media/image24.png"/><Relationship Id="rId4" Type="http://schemas.microsoft.com/office/2014/relationships/chartEx" Target="../charts/chartEx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5588493" y="1947133"/>
            <a:ext cx="6350436" cy="2710927"/>
          </a:xfrm>
          <a:prstGeom prst="rect">
            <a:avLst/>
          </a:prstGeom>
          <a:noFill/>
          <a:ln/>
        </p:spPr>
        <p:txBody>
          <a:bodyPr wrap="none" lIns="0" tIns="0" rIns="0" bIns="0" rtlCol="0" anchor="t"/>
          <a:lstStyle/>
          <a:p>
            <a:pPr marL="0" indent="0" algn="l">
              <a:lnSpc>
                <a:spcPts val="4900"/>
              </a:lnSpc>
              <a:buNone/>
            </a:pPr>
            <a:r>
              <a:rPr lang="en-US" sz="3900" b="1" dirty="0">
                <a:solidFill>
                  <a:srgbClr val="1F1E1E"/>
                </a:solidFill>
                <a:ea typeface="Sora Semi Bold" pitchFamily="34" charset="-122"/>
                <a:cs typeface="Sora Semi Bold" pitchFamily="34" charset="-120"/>
              </a:rPr>
              <a:t>Streaming Services</a:t>
            </a:r>
            <a:endParaRPr lang="en-US" sz="3900" b="1" dirty="0"/>
          </a:p>
        </p:txBody>
      </p:sp>
      <p:sp>
        <p:nvSpPr>
          <p:cNvPr id="4" name="Text 1"/>
          <p:cNvSpPr/>
          <p:nvPr/>
        </p:nvSpPr>
        <p:spPr>
          <a:xfrm>
            <a:off x="6922441" y="2659848"/>
            <a:ext cx="6350437" cy="311706"/>
          </a:xfrm>
          <a:prstGeom prst="rect">
            <a:avLst/>
          </a:prstGeom>
          <a:noFill/>
          <a:ln/>
        </p:spPr>
        <p:txBody>
          <a:bodyPr wrap="none" lIns="0" tIns="0" rIns="0" bIns="0" rtlCol="0" anchor="t"/>
          <a:lstStyle/>
          <a:p>
            <a:pPr marL="0" indent="0" algn="l">
              <a:lnSpc>
                <a:spcPts val="2450"/>
              </a:lnSpc>
              <a:buNone/>
            </a:pPr>
            <a:r>
              <a:rPr lang="en-US" sz="1950" dirty="0">
                <a:solidFill>
                  <a:srgbClr val="1F1E1E"/>
                </a:solidFill>
                <a:cs typeface="Sora Semi Bold" pitchFamily="34" charset="-120"/>
              </a:rPr>
              <a:t>User Analysis Report</a:t>
            </a:r>
            <a:endParaRPr lang="en-US" sz="1950" dirty="0"/>
          </a:p>
        </p:txBody>
      </p:sp>
      <p:sp>
        <p:nvSpPr>
          <p:cNvPr id="5" name="Text 2"/>
          <p:cNvSpPr/>
          <p:nvPr/>
        </p:nvSpPr>
        <p:spPr>
          <a:xfrm>
            <a:off x="1136329" y="5931967"/>
            <a:ext cx="7627382" cy="909757"/>
          </a:xfrm>
          <a:prstGeom prst="rect">
            <a:avLst/>
          </a:prstGeom>
          <a:noFill/>
          <a:ln/>
        </p:spPr>
        <p:txBody>
          <a:bodyPr wrap="square" lIns="0" tIns="0" rIns="0" bIns="0" rtlCol="0" anchor="t"/>
          <a:lstStyle/>
          <a:p>
            <a:r>
              <a:rPr lang="en-US" sz="1600" dirty="0"/>
              <a:t>By: Kiran Patel</a:t>
            </a:r>
          </a:p>
          <a:p>
            <a:r>
              <a:rPr lang="en-US" sz="1600" dirty="0"/>
              <a:t>Email Id: </a:t>
            </a:r>
            <a:r>
              <a:rPr lang="en-US" sz="1600" dirty="0">
                <a:hlinkClick r:id="rId3"/>
              </a:rPr>
              <a:t>kiranpatelpatel18@gmail.com</a:t>
            </a:r>
            <a:endParaRPr lang="en-US" sz="1600" dirty="0"/>
          </a:p>
          <a:p>
            <a:r>
              <a:rPr lang="en-US" sz="1600" dirty="0"/>
              <a:t>Contact/</a:t>
            </a:r>
            <a:r>
              <a:rPr lang="en-US" sz="1600" dirty="0" err="1"/>
              <a:t>Whatsapp</a:t>
            </a:r>
            <a:r>
              <a:rPr lang="en-US" sz="1600" dirty="0"/>
              <a:t> Number: 9960478884</a:t>
            </a:r>
            <a:endParaRPr lang="en-IN" sz="1600" dirty="0"/>
          </a:p>
        </p:txBody>
      </p:sp>
      <p:sp>
        <p:nvSpPr>
          <p:cNvPr id="6" name="Parallelogram 5">
            <a:extLst>
              <a:ext uri="{FF2B5EF4-FFF2-40B4-BE49-F238E27FC236}">
                <a16:creationId xmlns:a16="http://schemas.microsoft.com/office/drawing/2014/main" id="{16353D1D-94DB-A929-8649-D2AD3D737F62}"/>
              </a:ext>
            </a:extLst>
          </p:cNvPr>
          <p:cNvSpPr/>
          <p:nvPr/>
        </p:nvSpPr>
        <p:spPr>
          <a:xfrm>
            <a:off x="333487" y="441064"/>
            <a:ext cx="4485939" cy="3012141"/>
          </a:xfrm>
          <a:prstGeom prst="parallelogram">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rapezoid 6">
            <a:extLst>
              <a:ext uri="{FF2B5EF4-FFF2-40B4-BE49-F238E27FC236}">
                <a16:creationId xmlns:a16="http://schemas.microsoft.com/office/drawing/2014/main" id="{87496504-AB9A-6A7F-8AB3-31564D0AE291}"/>
              </a:ext>
            </a:extLst>
          </p:cNvPr>
          <p:cNvSpPr/>
          <p:nvPr/>
        </p:nvSpPr>
        <p:spPr>
          <a:xfrm>
            <a:off x="8294146" y="4442908"/>
            <a:ext cx="5199925" cy="3162748"/>
          </a:xfrm>
          <a:prstGeom prst="trapezoid">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58309" y="794980"/>
            <a:ext cx="4263628" cy="530066"/>
          </a:xfrm>
          <a:prstGeom prst="rect">
            <a:avLst/>
          </a:prstGeom>
          <a:noFill/>
          <a:ln/>
        </p:spPr>
        <p:txBody>
          <a:bodyPr wrap="none" lIns="0" tIns="0" rIns="0" bIns="0" rtlCol="0" anchor="t"/>
          <a:lstStyle/>
          <a:p>
            <a:pPr marL="0" indent="0" algn="l">
              <a:lnSpc>
                <a:spcPts val="4150"/>
              </a:lnSpc>
              <a:buNone/>
            </a:pPr>
            <a:r>
              <a:rPr lang="en-US" sz="3300" dirty="0">
                <a:solidFill>
                  <a:srgbClr val="1F1E1E"/>
                </a:solidFill>
                <a:ea typeface="Sora Semi Bold" pitchFamily="34" charset="-122"/>
                <a:cs typeface="Sora Semi Bold" pitchFamily="34" charset="-120"/>
              </a:rPr>
              <a:t>Executive Summary</a:t>
            </a:r>
            <a:endParaRPr lang="en-US" sz="3300" dirty="0"/>
          </a:p>
        </p:txBody>
      </p:sp>
      <p:sp>
        <p:nvSpPr>
          <p:cNvPr id="3" name="Text 1"/>
          <p:cNvSpPr/>
          <p:nvPr/>
        </p:nvSpPr>
        <p:spPr>
          <a:xfrm>
            <a:off x="758309" y="1647230"/>
            <a:ext cx="13113782" cy="772954"/>
          </a:xfrm>
          <a:prstGeom prst="rect">
            <a:avLst/>
          </a:prstGeom>
          <a:noFill/>
          <a:ln/>
        </p:spPr>
        <p:txBody>
          <a:bodyPr wrap="square" lIns="0" tIns="0" rIns="0" bIns="0" rtlCol="0" anchor="t"/>
          <a:lstStyle/>
          <a:p>
            <a:pPr marL="0" indent="0" algn="l">
              <a:lnSpc>
                <a:spcPts val="2000"/>
              </a:lnSpc>
              <a:buNone/>
            </a:pPr>
            <a:r>
              <a:rPr lang="en-US" sz="1250" dirty="0">
                <a:ea typeface="Sora Light" pitchFamily="34" charset="-122"/>
                <a:cs typeface="Sora Light" pitchFamily="34" charset="-120"/>
              </a:rPr>
              <a:t>This analysis examines critical performance indicators across our streaming platform, revealing actionable insights that span revenue optimization, user engagement patterns, and behavioral trends. Our findings provide a foundation for strategic initiatives aimed at improving retention, personalizing content delivery, and maximizing lifetime customer value.</a:t>
            </a:r>
            <a:endParaRPr lang="en-US" sz="1250" dirty="0"/>
          </a:p>
        </p:txBody>
      </p:sp>
      <p:sp>
        <p:nvSpPr>
          <p:cNvPr id="4" name="Shape 2"/>
          <p:cNvSpPr/>
          <p:nvPr/>
        </p:nvSpPr>
        <p:spPr>
          <a:xfrm>
            <a:off x="758309" y="2601397"/>
            <a:ext cx="6476286" cy="2116574"/>
          </a:xfrm>
          <a:prstGeom prst="roundRect">
            <a:avLst>
              <a:gd name="adj" fmla="val 3198"/>
            </a:avLst>
          </a:prstGeom>
          <a:solidFill>
            <a:srgbClr val="F9D2D6"/>
          </a:solidFill>
          <a:ln w="7620">
            <a:solidFill>
              <a:srgbClr val="DFB8BC"/>
            </a:solidFill>
            <a:prstDash val="solid"/>
          </a:ln>
        </p:spPr>
      </p:sp>
      <p:sp>
        <p:nvSpPr>
          <p:cNvPr id="5" name="Shape 3"/>
          <p:cNvSpPr/>
          <p:nvPr/>
        </p:nvSpPr>
        <p:spPr>
          <a:xfrm>
            <a:off x="927021" y="2770108"/>
            <a:ext cx="483394" cy="483394"/>
          </a:xfrm>
          <a:prstGeom prst="roundRect">
            <a:avLst>
              <a:gd name="adj" fmla="val 18914355"/>
            </a:avLst>
          </a:prstGeom>
          <a:solidFill>
            <a:srgbClr val="DA1B2E"/>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59894" y="2902982"/>
            <a:ext cx="217527" cy="217527"/>
          </a:xfrm>
          <a:prstGeom prst="rect">
            <a:avLst/>
          </a:prstGeom>
        </p:spPr>
      </p:pic>
      <p:sp>
        <p:nvSpPr>
          <p:cNvPr id="7" name="Text 4"/>
          <p:cNvSpPr/>
          <p:nvPr/>
        </p:nvSpPr>
        <p:spPr>
          <a:xfrm>
            <a:off x="927021" y="3414593"/>
            <a:ext cx="2308622" cy="265033"/>
          </a:xfrm>
          <a:prstGeom prst="rect">
            <a:avLst/>
          </a:prstGeom>
          <a:noFill/>
          <a:ln/>
        </p:spPr>
        <p:txBody>
          <a:bodyPr wrap="none" lIns="0" tIns="0" rIns="0" bIns="0" rtlCol="0" anchor="t"/>
          <a:lstStyle/>
          <a:p>
            <a:pPr marL="0" indent="0" algn="l">
              <a:lnSpc>
                <a:spcPts val="2050"/>
              </a:lnSpc>
              <a:buNone/>
            </a:pPr>
            <a:r>
              <a:rPr lang="en-US" sz="1650" dirty="0">
                <a:solidFill>
                  <a:srgbClr val="3B3535"/>
                </a:solidFill>
                <a:ea typeface="Sora Semi Bold" pitchFamily="34" charset="-122"/>
                <a:cs typeface="Sora Semi Bold" pitchFamily="34" charset="-120"/>
              </a:rPr>
              <a:t>Revenue Distribution</a:t>
            </a:r>
            <a:endParaRPr lang="en-US" sz="1650" dirty="0"/>
          </a:p>
        </p:txBody>
      </p:sp>
      <p:sp>
        <p:nvSpPr>
          <p:cNvPr id="8" name="Text 5"/>
          <p:cNvSpPr/>
          <p:nvPr/>
        </p:nvSpPr>
        <p:spPr>
          <a:xfrm>
            <a:off x="927021" y="3776305"/>
            <a:ext cx="6138862" cy="772954"/>
          </a:xfrm>
          <a:prstGeom prst="rect">
            <a:avLst/>
          </a:prstGeom>
          <a:noFill/>
          <a:ln/>
        </p:spPr>
        <p:txBody>
          <a:bodyPr wrap="square" lIns="0" tIns="0" rIns="0" bIns="0" rtlCol="0" anchor="t"/>
          <a:lstStyle/>
          <a:p>
            <a:pPr marL="0" indent="0" algn="l">
              <a:lnSpc>
                <a:spcPts val="2000"/>
              </a:lnSpc>
              <a:buNone/>
            </a:pPr>
            <a:r>
              <a:rPr lang="en-US" sz="1250" dirty="0">
                <a:solidFill>
                  <a:srgbClr val="3B3535"/>
                </a:solidFill>
                <a:ea typeface="Sora Light" pitchFamily="34" charset="-122"/>
                <a:cs typeface="Sora Light" pitchFamily="34" charset="-120"/>
              </a:rPr>
              <a:t>Three distinct subscription tiers generate revenue with significant ARPU variation, indicating clear value perception differences and opportunities for tier optimization.</a:t>
            </a:r>
            <a:endParaRPr lang="en-US" sz="1250" dirty="0"/>
          </a:p>
        </p:txBody>
      </p:sp>
      <p:sp>
        <p:nvSpPr>
          <p:cNvPr id="9" name="Shape 6"/>
          <p:cNvSpPr/>
          <p:nvPr/>
        </p:nvSpPr>
        <p:spPr>
          <a:xfrm>
            <a:off x="7395686" y="2601397"/>
            <a:ext cx="6476405" cy="2116574"/>
          </a:xfrm>
          <a:prstGeom prst="roundRect">
            <a:avLst>
              <a:gd name="adj" fmla="val 3198"/>
            </a:avLst>
          </a:prstGeom>
          <a:solidFill>
            <a:srgbClr val="F9D2D6"/>
          </a:solidFill>
          <a:ln w="7620">
            <a:solidFill>
              <a:srgbClr val="DFB8BC"/>
            </a:solidFill>
            <a:prstDash val="solid"/>
          </a:ln>
        </p:spPr>
      </p:sp>
      <p:sp>
        <p:nvSpPr>
          <p:cNvPr id="10" name="Shape 7"/>
          <p:cNvSpPr/>
          <p:nvPr/>
        </p:nvSpPr>
        <p:spPr>
          <a:xfrm>
            <a:off x="7564398" y="2770108"/>
            <a:ext cx="483394" cy="483394"/>
          </a:xfrm>
          <a:prstGeom prst="roundRect">
            <a:avLst>
              <a:gd name="adj" fmla="val 18914355"/>
            </a:avLst>
          </a:prstGeom>
          <a:solidFill>
            <a:srgbClr val="DA1B2E"/>
          </a:solidFill>
          <a:ln/>
        </p:spPr>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97272" y="2902982"/>
            <a:ext cx="217527" cy="217527"/>
          </a:xfrm>
          <a:prstGeom prst="rect">
            <a:avLst/>
          </a:prstGeom>
        </p:spPr>
      </p:pic>
      <p:sp>
        <p:nvSpPr>
          <p:cNvPr id="12" name="Text 8"/>
          <p:cNvSpPr/>
          <p:nvPr/>
        </p:nvSpPr>
        <p:spPr>
          <a:xfrm>
            <a:off x="7564398" y="3414593"/>
            <a:ext cx="2673548" cy="265033"/>
          </a:xfrm>
          <a:prstGeom prst="rect">
            <a:avLst/>
          </a:prstGeom>
          <a:noFill/>
          <a:ln/>
        </p:spPr>
        <p:txBody>
          <a:bodyPr wrap="none" lIns="0" tIns="0" rIns="0" bIns="0" rtlCol="0" anchor="t"/>
          <a:lstStyle/>
          <a:p>
            <a:pPr marL="0" indent="0" algn="l">
              <a:lnSpc>
                <a:spcPts val="2050"/>
              </a:lnSpc>
              <a:buNone/>
            </a:pPr>
            <a:r>
              <a:rPr lang="en-US" sz="1650" dirty="0">
                <a:solidFill>
                  <a:srgbClr val="3B3535"/>
                </a:solidFill>
                <a:ea typeface="Sora Semi Bold" pitchFamily="34" charset="-122"/>
                <a:cs typeface="Sora Semi Bold" pitchFamily="34" charset="-120"/>
              </a:rPr>
              <a:t>Engagement Correlation</a:t>
            </a:r>
            <a:endParaRPr lang="en-US" sz="1650" dirty="0"/>
          </a:p>
        </p:txBody>
      </p:sp>
      <p:sp>
        <p:nvSpPr>
          <p:cNvPr id="13" name="Text 9"/>
          <p:cNvSpPr/>
          <p:nvPr/>
        </p:nvSpPr>
        <p:spPr>
          <a:xfrm>
            <a:off x="7564398" y="3776305"/>
            <a:ext cx="6138982" cy="515303"/>
          </a:xfrm>
          <a:prstGeom prst="rect">
            <a:avLst/>
          </a:prstGeom>
          <a:noFill/>
          <a:ln/>
        </p:spPr>
        <p:txBody>
          <a:bodyPr wrap="square" lIns="0" tIns="0" rIns="0" bIns="0" rtlCol="0" anchor="t"/>
          <a:lstStyle/>
          <a:p>
            <a:pPr marL="0" indent="0" algn="l">
              <a:lnSpc>
                <a:spcPts val="2000"/>
              </a:lnSpc>
              <a:buNone/>
            </a:pPr>
            <a:r>
              <a:rPr lang="en-US" sz="1250" dirty="0">
                <a:solidFill>
                  <a:srgbClr val="3B3535"/>
                </a:solidFill>
                <a:ea typeface="Sora Light" pitchFamily="34" charset="-122"/>
                <a:cs typeface="Sora Light" pitchFamily="34" charset="-120"/>
              </a:rPr>
              <a:t>Watch hours increase proportionally with subscription tier and recommendation effectiveness, validating our personalization algorithms.</a:t>
            </a:r>
            <a:endParaRPr lang="en-US" sz="1250" dirty="0"/>
          </a:p>
        </p:txBody>
      </p:sp>
      <p:sp>
        <p:nvSpPr>
          <p:cNvPr id="14" name="Shape 10"/>
          <p:cNvSpPr/>
          <p:nvPr/>
        </p:nvSpPr>
        <p:spPr>
          <a:xfrm>
            <a:off x="758309" y="4879062"/>
            <a:ext cx="6476286" cy="1858923"/>
          </a:xfrm>
          <a:prstGeom prst="roundRect">
            <a:avLst>
              <a:gd name="adj" fmla="val 3641"/>
            </a:avLst>
          </a:prstGeom>
          <a:solidFill>
            <a:srgbClr val="F9D2D6"/>
          </a:solidFill>
          <a:ln w="7620">
            <a:solidFill>
              <a:srgbClr val="DFB8BC"/>
            </a:solidFill>
            <a:prstDash val="solid"/>
          </a:ln>
        </p:spPr>
      </p:sp>
      <p:sp>
        <p:nvSpPr>
          <p:cNvPr id="15" name="Shape 11"/>
          <p:cNvSpPr/>
          <p:nvPr/>
        </p:nvSpPr>
        <p:spPr>
          <a:xfrm>
            <a:off x="927021" y="5047774"/>
            <a:ext cx="483394" cy="483394"/>
          </a:xfrm>
          <a:prstGeom prst="roundRect">
            <a:avLst>
              <a:gd name="adj" fmla="val 18914355"/>
            </a:avLst>
          </a:prstGeom>
          <a:solidFill>
            <a:srgbClr val="DA1B2E"/>
          </a:solidFill>
          <a:ln/>
        </p:spPr>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59894" y="5180647"/>
            <a:ext cx="217527" cy="217527"/>
          </a:xfrm>
          <a:prstGeom prst="rect">
            <a:avLst/>
          </a:prstGeom>
        </p:spPr>
      </p:pic>
      <p:sp>
        <p:nvSpPr>
          <p:cNvPr id="17" name="Text 12"/>
          <p:cNvSpPr/>
          <p:nvPr/>
        </p:nvSpPr>
        <p:spPr>
          <a:xfrm>
            <a:off x="927021" y="5692259"/>
            <a:ext cx="2487454" cy="265033"/>
          </a:xfrm>
          <a:prstGeom prst="rect">
            <a:avLst/>
          </a:prstGeom>
          <a:noFill/>
          <a:ln/>
        </p:spPr>
        <p:txBody>
          <a:bodyPr wrap="none" lIns="0" tIns="0" rIns="0" bIns="0" rtlCol="0" anchor="t"/>
          <a:lstStyle/>
          <a:p>
            <a:pPr marL="0" indent="0" algn="l">
              <a:lnSpc>
                <a:spcPts val="2050"/>
              </a:lnSpc>
              <a:buNone/>
            </a:pPr>
            <a:r>
              <a:rPr lang="en-US" sz="1650" dirty="0">
                <a:solidFill>
                  <a:srgbClr val="3B3535"/>
                </a:solidFill>
                <a:ea typeface="Sora Semi Bold" pitchFamily="34" charset="-122"/>
                <a:cs typeface="Sora Semi Bold" pitchFamily="34" charset="-120"/>
              </a:rPr>
              <a:t>Device &amp; Time Patterns</a:t>
            </a:r>
            <a:endParaRPr lang="en-US" sz="1650" dirty="0"/>
          </a:p>
        </p:txBody>
      </p:sp>
      <p:sp>
        <p:nvSpPr>
          <p:cNvPr id="18" name="Text 13"/>
          <p:cNvSpPr/>
          <p:nvPr/>
        </p:nvSpPr>
        <p:spPr>
          <a:xfrm>
            <a:off x="927021" y="6053971"/>
            <a:ext cx="6138862" cy="515303"/>
          </a:xfrm>
          <a:prstGeom prst="rect">
            <a:avLst/>
          </a:prstGeom>
          <a:noFill/>
          <a:ln/>
        </p:spPr>
        <p:txBody>
          <a:bodyPr wrap="square" lIns="0" tIns="0" rIns="0" bIns="0" rtlCol="0" anchor="t"/>
          <a:lstStyle/>
          <a:p>
            <a:pPr marL="0" indent="0" algn="l">
              <a:lnSpc>
                <a:spcPts val="2000"/>
              </a:lnSpc>
              <a:buNone/>
            </a:pPr>
            <a:r>
              <a:rPr lang="en-US" sz="1250" dirty="0">
                <a:solidFill>
                  <a:srgbClr val="3B3535"/>
                </a:solidFill>
                <a:ea typeface="Sora Light" pitchFamily="34" charset="-122"/>
                <a:cs typeface="Sora Light" pitchFamily="34" charset="-120"/>
              </a:rPr>
              <a:t>Desktop and smartphone dominate platform access, with peak viewing concentrated during evening and late-night hours across demographics.</a:t>
            </a:r>
            <a:endParaRPr lang="en-US" sz="1250" dirty="0"/>
          </a:p>
        </p:txBody>
      </p:sp>
      <p:sp>
        <p:nvSpPr>
          <p:cNvPr id="19" name="Shape 14"/>
          <p:cNvSpPr/>
          <p:nvPr/>
        </p:nvSpPr>
        <p:spPr>
          <a:xfrm>
            <a:off x="7395686" y="4879062"/>
            <a:ext cx="6476405" cy="1858923"/>
          </a:xfrm>
          <a:prstGeom prst="roundRect">
            <a:avLst>
              <a:gd name="adj" fmla="val 3641"/>
            </a:avLst>
          </a:prstGeom>
          <a:solidFill>
            <a:srgbClr val="F9D2D6"/>
          </a:solidFill>
          <a:ln w="7620">
            <a:solidFill>
              <a:srgbClr val="DFB8BC"/>
            </a:solidFill>
            <a:prstDash val="solid"/>
          </a:ln>
        </p:spPr>
      </p:sp>
      <p:sp>
        <p:nvSpPr>
          <p:cNvPr id="20" name="Shape 15"/>
          <p:cNvSpPr/>
          <p:nvPr/>
        </p:nvSpPr>
        <p:spPr>
          <a:xfrm>
            <a:off x="7564398" y="5047774"/>
            <a:ext cx="483394" cy="483394"/>
          </a:xfrm>
          <a:prstGeom prst="roundRect">
            <a:avLst>
              <a:gd name="adj" fmla="val 18914355"/>
            </a:avLst>
          </a:prstGeom>
          <a:solidFill>
            <a:srgbClr val="DA1B2E"/>
          </a:solidFill>
          <a:ln/>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697272" y="5180647"/>
            <a:ext cx="217527" cy="217527"/>
          </a:xfrm>
          <a:prstGeom prst="rect">
            <a:avLst/>
          </a:prstGeom>
        </p:spPr>
      </p:pic>
      <p:sp>
        <p:nvSpPr>
          <p:cNvPr id="22" name="Text 16"/>
          <p:cNvSpPr/>
          <p:nvPr/>
        </p:nvSpPr>
        <p:spPr>
          <a:xfrm>
            <a:off x="7564398" y="5692259"/>
            <a:ext cx="2120265" cy="265033"/>
          </a:xfrm>
          <a:prstGeom prst="rect">
            <a:avLst/>
          </a:prstGeom>
          <a:noFill/>
          <a:ln/>
        </p:spPr>
        <p:txBody>
          <a:bodyPr wrap="none" lIns="0" tIns="0" rIns="0" bIns="0" rtlCol="0" anchor="t"/>
          <a:lstStyle/>
          <a:p>
            <a:pPr marL="0" indent="0" algn="l">
              <a:lnSpc>
                <a:spcPts val="2050"/>
              </a:lnSpc>
              <a:buNone/>
            </a:pPr>
            <a:r>
              <a:rPr lang="en-US" sz="1650" dirty="0">
                <a:solidFill>
                  <a:srgbClr val="3B3535"/>
                </a:solidFill>
                <a:ea typeface="Sora Semi Bold" pitchFamily="34" charset="-122"/>
                <a:cs typeface="Sora Semi Bold" pitchFamily="34" charset="-120"/>
              </a:rPr>
              <a:t>Retention Metrics</a:t>
            </a:r>
            <a:endParaRPr lang="en-US" sz="1650" dirty="0"/>
          </a:p>
        </p:txBody>
      </p:sp>
      <p:sp>
        <p:nvSpPr>
          <p:cNvPr id="23" name="Text 17"/>
          <p:cNvSpPr/>
          <p:nvPr/>
        </p:nvSpPr>
        <p:spPr>
          <a:xfrm>
            <a:off x="7564398" y="6053971"/>
            <a:ext cx="6138982" cy="515303"/>
          </a:xfrm>
          <a:prstGeom prst="rect">
            <a:avLst/>
          </a:prstGeom>
          <a:noFill/>
          <a:ln/>
        </p:spPr>
        <p:txBody>
          <a:bodyPr wrap="square" lIns="0" tIns="0" rIns="0" bIns="0" rtlCol="0" anchor="t"/>
          <a:lstStyle/>
          <a:p>
            <a:pPr marL="0" indent="0" algn="l">
              <a:lnSpc>
                <a:spcPts val="2000"/>
              </a:lnSpc>
              <a:buNone/>
            </a:pPr>
            <a:r>
              <a:rPr lang="en-US" sz="1250" dirty="0">
                <a:solidFill>
                  <a:srgbClr val="3B3535"/>
                </a:solidFill>
                <a:ea typeface="Sora Light" pitchFamily="34" charset="-122"/>
                <a:cs typeface="Sora Light" pitchFamily="34" charset="-120"/>
              </a:rPr>
              <a:t>Active memberships constitute the majority of our user base, while loyalty points distribution reveals long-tail engagement opportunities.</a:t>
            </a:r>
            <a:endParaRPr lang="en-US" sz="1250" dirty="0"/>
          </a:p>
        </p:txBody>
      </p:sp>
      <p:sp>
        <p:nvSpPr>
          <p:cNvPr id="24" name="Text 18"/>
          <p:cNvSpPr/>
          <p:nvPr/>
        </p:nvSpPr>
        <p:spPr>
          <a:xfrm>
            <a:off x="758309" y="6919198"/>
            <a:ext cx="13113782" cy="515303"/>
          </a:xfrm>
          <a:prstGeom prst="rect">
            <a:avLst/>
          </a:prstGeom>
          <a:noFill/>
          <a:ln/>
        </p:spPr>
        <p:txBody>
          <a:bodyPr wrap="square" lIns="0" tIns="0" rIns="0" bIns="0" rtlCol="0" anchor="t"/>
          <a:lstStyle/>
          <a:p>
            <a:pPr marL="0" indent="0" algn="l">
              <a:lnSpc>
                <a:spcPts val="2000"/>
              </a:lnSpc>
              <a:buNone/>
            </a:pPr>
            <a:r>
              <a:rPr lang="en-US" sz="1250" dirty="0">
                <a:solidFill>
                  <a:srgbClr val="3B3535"/>
                </a:solidFill>
                <a:ea typeface="Sora Light" pitchFamily="34" charset="-122"/>
                <a:cs typeface="Sora Light" pitchFamily="34" charset="-120"/>
              </a:rPr>
              <a:t>Payment method preferences demonstrate regional variation, and language localization shows strong correlation with increased watch time, underscoring the importance of market-specific customization strategies.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58309" y="787718"/>
            <a:ext cx="4489966" cy="561142"/>
          </a:xfrm>
          <a:prstGeom prst="rect">
            <a:avLst/>
          </a:prstGeom>
          <a:noFill/>
          <a:ln/>
        </p:spPr>
        <p:txBody>
          <a:bodyPr wrap="none" lIns="0" tIns="0" rIns="0" bIns="0" rtlCol="0" anchor="t"/>
          <a:lstStyle/>
          <a:p>
            <a:pPr marL="0" indent="0" algn="l">
              <a:lnSpc>
                <a:spcPts val="4400"/>
              </a:lnSpc>
              <a:buNone/>
            </a:pPr>
            <a:r>
              <a:rPr lang="en-US" sz="3500" dirty="0">
                <a:solidFill>
                  <a:srgbClr val="1F1E1E"/>
                </a:solidFill>
                <a:ea typeface="Sora Semi Bold" pitchFamily="34" charset="-122"/>
                <a:cs typeface="Sora Semi Bold" pitchFamily="34" charset="-120"/>
              </a:rPr>
              <a:t>Users by Price Tier</a:t>
            </a:r>
            <a:endParaRPr lang="en-US" sz="3500" dirty="0"/>
          </a:p>
        </p:txBody>
      </p:sp>
      <p:sp>
        <p:nvSpPr>
          <p:cNvPr id="6" name="Text 3"/>
          <p:cNvSpPr/>
          <p:nvPr/>
        </p:nvSpPr>
        <p:spPr>
          <a:xfrm>
            <a:off x="8207335" y="1640562"/>
            <a:ext cx="5672257" cy="272891"/>
          </a:xfrm>
          <a:prstGeom prst="rect">
            <a:avLst/>
          </a:prstGeom>
          <a:noFill/>
          <a:ln/>
        </p:spPr>
        <p:txBody>
          <a:bodyPr wrap="none" lIns="0" tIns="0" rIns="0" bIns="0" rtlCol="0" anchor="t"/>
          <a:lstStyle/>
          <a:p>
            <a:pPr marL="0" indent="0" algn="l">
              <a:lnSpc>
                <a:spcPts val="2100"/>
              </a:lnSpc>
              <a:buNone/>
            </a:pPr>
            <a:r>
              <a:rPr lang="en-US" sz="1300" b="1" dirty="0">
                <a:solidFill>
                  <a:srgbClr val="3B3535"/>
                </a:solidFill>
                <a:ea typeface="Sora Light" pitchFamily="34" charset="-122"/>
                <a:cs typeface="Sora Light" pitchFamily="34" charset="-120"/>
              </a:rPr>
              <a:t>Key observations:</a:t>
            </a:r>
            <a:endParaRPr lang="en-US" sz="1300" dirty="0"/>
          </a:p>
        </p:txBody>
      </p:sp>
      <p:sp>
        <p:nvSpPr>
          <p:cNvPr id="7" name="Text 4"/>
          <p:cNvSpPr/>
          <p:nvPr/>
        </p:nvSpPr>
        <p:spPr>
          <a:xfrm>
            <a:off x="8115895" y="2327037"/>
            <a:ext cx="5672257" cy="545783"/>
          </a:xfrm>
          <a:prstGeom prst="rect">
            <a:avLst/>
          </a:prstGeom>
          <a:noFill/>
          <a:ln/>
        </p:spPr>
        <p:txBody>
          <a:bodyPr wrap="square" lIns="0" tIns="0" rIns="0" bIns="0" rtlCol="0" anchor="t"/>
          <a:lstStyle/>
          <a:p>
            <a:pPr marL="342900" indent="-342900" algn="l">
              <a:lnSpc>
                <a:spcPts val="2100"/>
              </a:lnSpc>
              <a:buSzPct val="100000"/>
              <a:buChar char="•"/>
            </a:pPr>
            <a:r>
              <a:rPr lang="en-US" sz="1300" dirty="0">
                <a:solidFill>
                  <a:srgbClr val="3B3535"/>
                </a:solidFill>
                <a:ea typeface="Sora Light" pitchFamily="34" charset="-122"/>
                <a:cs typeface="Sora Light" pitchFamily="34" charset="-120"/>
              </a:rPr>
              <a:t>The distribution reveals subscriber concentration patterns that inform content licensing priorities</a:t>
            </a:r>
            <a:endParaRPr lang="en-US" sz="1300" dirty="0"/>
          </a:p>
        </p:txBody>
      </p:sp>
      <p:sp>
        <p:nvSpPr>
          <p:cNvPr id="8" name="Text 5"/>
          <p:cNvSpPr/>
          <p:nvPr/>
        </p:nvSpPr>
        <p:spPr>
          <a:xfrm>
            <a:off x="8115895" y="2932470"/>
            <a:ext cx="5672257" cy="272891"/>
          </a:xfrm>
          <a:prstGeom prst="rect">
            <a:avLst/>
          </a:prstGeom>
          <a:noFill/>
          <a:ln/>
        </p:spPr>
        <p:txBody>
          <a:bodyPr wrap="none" lIns="0" tIns="0" rIns="0" bIns="0" rtlCol="0" anchor="t"/>
          <a:lstStyle/>
          <a:p>
            <a:pPr marL="342900" indent="-342900" algn="l">
              <a:lnSpc>
                <a:spcPts val="2100"/>
              </a:lnSpc>
              <a:buSzPct val="100000"/>
              <a:buChar char="•"/>
            </a:pPr>
            <a:r>
              <a:rPr lang="en-US" sz="1300" dirty="0">
                <a:solidFill>
                  <a:srgbClr val="3B3535"/>
                </a:solidFill>
                <a:ea typeface="Sora Light" pitchFamily="34" charset="-122"/>
                <a:cs typeface="Sora Light" pitchFamily="34" charset="-120"/>
              </a:rPr>
              <a:t>Tier migration opportunities exist within the current user base</a:t>
            </a:r>
            <a:endParaRPr lang="en-US" sz="1300" dirty="0"/>
          </a:p>
        </p:txBody>
      </p:sp>
      <p:sp>
        <p:nvSpPr>
          <p:cNvPr id="9" name="Text 6"/>
          <p:cNvSpPr/>
          <p:nvPr/>
        </p:nvSpPr>
        <p:spPr>
          <a:xfrm>
            <a:off x="8115895" y="3265011"/>
            <a:ext cx="5672257" cy="545783"/>
          </a:xfrm>
          <a:prstGeom prst="rect">
            <a:avLst/>
          </a:prstGeom>
          <a:noFill/>
          <a:ln/>
        </p:spPr>
        <p:txBody>
          <a:bodyPr wrap="square" lIns="0" tIns="0" rIns="0" bIns="0" rtlCol="0" anchor="t"/>
          <a:lstStyle/>
          <a:p>
            <a:pPr marL="342900" indent="-342900" algn="l">
              <a:lnSpc>
                <a:spcPts val="2100"/>
              </a:lnSpc>
              <a:buSzPct val="100000"/>
              <a:buChar char="•"/>
            </a:pPr>
            <a:r>
              <a:rPr lang="en-US" sz="1300" dirty="0">
                <a:solidFill>
                  <a:srgbClr val="3B3535"/>
                </a:solidFill>
                <a:ea typeface="Sora Light" pitchFamily="34" charset="-122"/>
                <a:cs typeface="Sora Light" pitchFamily="34" charset="-120"/>
              </a:rPr>
              <a:t>Entry-level pricing drives volume while premium tiers contribute disproportionately to revenue</a:t>
            </a:r>
            <a:endParaRPr lang="en-US" sz="1300" dirty="0"/>
          </a:p>
        </p:txBody>
      </p:sp>
      <p:sp>
        <p:nvSpPr>
          <p:cNvPr id="10" name="Text 7"/>
          <p:cNvSpPr/>
          <p:nvPr/>
        </p:nvSpPr>
        <p:spPr>
          <a:xfrm>
            <a:off x="8115895" y="3870444"/>
            <a:ext cx="5672257" cy="545783"/>
          </a:xfrm>
          <a:prstGeom prst="rect">
            <a:avLst/>
          </a:prstGeom>
          <a:noFill/>
          <a:ln/>
        </p:spPr>
        <p:txBody>
          <a:bodyPr wrap="square" lIns="0" tIns="0" rIns="0" bIns="0" rtlCol="0" anchor="t"/>
          <a:lstStyle/>
          <a:p>
            <a:pPr marL="342900" indent="-342900" algn="l">
              <a:lnSpc>
                <a:spcPts val="2100"/>
              </a:lnSpc>
              <a:buSzPct val="100000"/>
              <a:buChar char="•"/>
            </a:pPr>
            <a:r>
              <a:rPr lang="en-US" sz="1300" dirty="0">
                <a:solidFill>
                  <a:srgbClr val="3B3535"/>
                </a:solidFill>
                <a:ea typeface="Sora Light" pitchFamily="34" charset="-122"/>
                <a:cs typeface="Sora Light" pitchFamily="34" charset="-120"/>
              </a:rPr>
              <a:t>Churn risk varies significantly by tier, requiring differentiated retention strategies</a:t>
            </a:r>
            <a:endParaRPr lang="en-US" sz="1300" dirty="0"/>
          </a:p>
        </p:txBody>
      </p:sp>
      <p:sp>
        <p:nvSpPr>
          <p:cNvPr id="11" name="Text 8"/>
          <p:cNvSpPr/>
          <p:nvPr/>
        </p:nvSpPr>
        <p:spPr>
          <a:xfrm>
            <a:off x="8115895" y="4569698"/>
            <a:ext cx="5672257" cy="818674"/>
          </a:xfrm>
          <a:prstGeom prst="rect">
            <a:avLst/>
          </a:prstGeom>
          <a:noFill/>
          <a:ln/>
        </p:spPr>
        <p:txBody>
          <a:bodyPr wrap="square" lIns="0" tIns="0" rIns="0" bIns="0" rtlCol="0" anchor="t"/>
          <a:lstStyle/>
          <a:p>
            <a:pPr marL="0" indent="0" algn="l">
              <a:lnSpc>
                <a:spcPts val="2100"/>
              </a:lnSpc>
              <a:buNone/>
            </a:pPr>
            <a:r>
              <a:rPr lang="en-US" sz="1300" dirty="0">
                <a:solidFill>
                  <a:srgbClr val="3B3535"/>
                </a:solidFill>
                <a:ea typeface="Sora Light" pitchFamily="34" charset="-122"/>
                <a:cs typeface="Sora Light" pitchFamily="34" charset="-120"/>
              </a:rPr>
              <a:t>The balance between tiers suggests healthy platform economics with room for premium tier expansion through feature enhancement and exclusive content offerings.</a:t>
            </a:r>
            <a:endParaRPr lang="en-US" sz="1300" dirty="0"/>
          </a:p>
        </p:txBody>
      </p:sp>
      <p:graphicFrame>
        <p:nvGraphicFramePr>
          <p:cNvPr id="12" name="Chart 11">
            <a:extLst>
              <a:ext uri="{FF2B5EF4-FFF2-40B4-BE49-F238E27FC236}">
                <a16:creationId xmlns:a16="http://schemas.microsoft.com/office/drawing/2014/main" id="{45761F9E-44AC-10F6-7F81-C61CF1D131FB}"/>
              </a:ext>
            </a:extLst>
          </p:cNvPr>
          <p:cNvGraphicFramePr>
            <a:graphicFrameLocks/>
          </p:cNvGraphicFramePr>
          <p:nvPr>
            <p:extLst>
              <p:ext uri="{D42A27DB-BD31-4B8C-83A1-F6EECF244321}">
                <p14:modId xmlns:p14="http://schemas.microsoft.com/office/powerpoint/2010/main" val="960140500"/>
              </p:ext>
            </p:extLst>
          </p:nvPr>
        </p:nvGraphicFramePr>
        <p:xfrm>
          <a:off x="666975" y="1943695"/>
          <a:ext cx="6271708" cy="4722747"/>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56880" y="521256"/>
            <a:ext cx="5778460" cy="404574"/>
          </a:xfrm>
          <a:prstGeom prst="rect">
            <a:avLst/>
          </a:prstGeom>
          <a:noFill/>
          <a:ln/>
        </p:spPr>
        <p:txBody>
          <a:bodyPr wrap="none" lIns="0" tIns="0" rIns="0" bIns="0" rtlCol="0" anchor="t"/>
          <a:lstStyle/>
          <a:p>
            <a:pPr marL="0" indent="0" algn="l">
              <a:lnSpc>
                <a:spcPts val="3150"/>
              </a:lnSpc>
              <a:buNone/>
            </a:pPr>
            <a:r>
              <a:rPr lang="en-US" sz="2500" dirty="0">
                <a:solidFill>
                  <a:srgbClr val="1F1E1E"/>
                </a:solidFill>
                <a:ea typeface="Sora Semi Bold" pitchFamily="34" charset="-122"/>
                <a:cs typeface="Sora Semi Bold" pitchFamily="34" charset="-120"/>
              </a:rPr>
              <a:t>Movies vs Series Watched per User</a:t>
            </a:r>
            <a:endParaRPr lang="en-US" sz="2500" dirty="0"/>
          </a:p>
        </p:txBody>
      </p:sp>
      <p:sp>
        <p:nvSpPr>
          <p:cNvPr id="3" name="Shape 1"/>
          <p:cNvSpPr/>
          <p:nvPr/>
        </p:nvSpPr>
        <p:spPr>
          <a:xfrm>
            <a:off x="756880" y="1356241"/>
            <a:ext cx="6496764" cy="2061329"/>
          </a:xfrm>
          <a:prstGeom prst="roundRect">
            <a:avLst>
              <a:gd name="adj" fmla="val 3549"/>
            </a:avLst>
          </a:prstGeom>
          <a:solidFill>
            <a:srgbClr val="FFFFFF"/>
          </a:solidFill>
          <a:ln/>
        </p:spPr>
      </p:sp>
      <p:sp>
        <p:nvSpPr>
          <p:cNvPr id="4" name="Shape 2"/>
          <p:cNvSpPr/>
          <p:nvPr/>
        </p:nvSpPr>
        <p:spPr>
          <a:xfrm>
            <a:off x="756880" y="1341001"/>
            <a:ext cx="6496764" cy="60960"/>
          </a:xfrm>
          <a:prstGeom prst="roundRect">
            <a:avLst>
              <a:gd name="adj" fmla="val 84743"/>
            </a:avLst>
          </a:prstGeom>
          <a:solidFill>
            <a:srgbClr val="DA1B2E"/>
          </a:solidFill>
          <a:ln/>
        </p:spPr>
      </p:sp>
      <p:sp>
        <p:nvSpPr>
          <p:cNvPr id="5" name="Shape 3"/>
          <p:cNvSpPr/>
          <p:nvPr/>
        </p:nvSpPr>
        <p:spPr>
          <a:xfrm>
            <a:off x="3820775" y="1171813"/>
            <a:ext cx="368975" cy="368975"/>
          </a:xfrm>
          <a:prstGeom prst="roundRect">
            <a:avLst>
              <a:gd name="adj" fmla="val 247822"/>
            </a:avLst>
          </a:prstGeom>
          <a:solidFill>
            <a:srgbClr val="DA1B2E"/>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31503" y="1282541"/>
            <a:ext cx="147518" cy="147518"/>
          </a:xfrm>
          <a:prstGeom prst="rect">
            <a:avLst/>
          </a:prstGeom>
        </p:spPr>
      </p:pic>
      <p:sp>
        <p:nvSpPr>
          <p:cNvPr id="7" name="Text 4"/>
          <p:cNvSpPr/>
          <p:nvPr/>
        </p:nvSpPr>
        <p:spPr>
          <a:xfrm>
            <a:off x="895112" y="1663660"/>
            <a:ext cx="1688068" cy="202168"/>
          </a:xfrm>
          <a:prstGeom prst="rect">
            <a:avLst/>
          </a:prstGeom>
          <a:noFill/>
          <a:ln/>
        </p:spPr>
        <p:txBody>
          <a:bodyPr wrap="none" lIns="0" tIns="0" rIns="0" bIns="0" rtlCol="0" anchor="t"/>
          <a:lstStyle/>
          <a:p>
            <a:pPr marL="0" indent="0" algn="l">
              <a:lnSpc>
                <a:spcPts val="1550"/>
              </a:lnSpc>
              <a:buNone/>
            </a:pPr>
            <a:r>
              <a:rPr lang="en-US" sz="1200" dirty="0">
                <a:solidFill>
                  <a:srgbClr val="3B3535"/>
                </a:solidFill>
                <a:ea typeface="Sora Semi Bold" pitchFamily="34" charset="-122"/>
                <a:cs typeface="Sora Semi Bold" pitchFamily="34" charset="-120"/>
              </a:rPr>
              <a:t>Movie Consumption</a:t>
            </a:r>
            <a:endParaRPr lang="en-US" sz="1200" dirty="0"/>
          </a:p>
        </p:txBody>
      </p:sp>
      <p:sp>
        <p:nvSpPr>
          <p:cNvPr id="8" name="Text 5"/>
          <p:cNvSpPr/>
          <p:nvPr/>
        </p:nvSpPr>
        <p:spPr>
          <a:xfrm>
            <a:off x="895112" y="1939528"/>
            <a:ext cx="6220301" cy="590074"/>
          </a:xfrm>
          <a:prstGeom prst="rect">
            <a:avLst/>
          </a:prstGeom>
          <a:noFill/>
          <a:ln/>
        </p:spPr>
        <p:txBody>
          <a:bodyPr wrap="square" lIns="0" tIns="0" rIns="0" bIns="0" rtlCol="0" anchor="t"/>
          <a:lstStyle/>
          <a:p>
            <a:pPr marL="0" indent="0" algn="l">
              <a:lnSpc>
                <a:spcPts val="1500"/>
              </a:lnSpc>
              <a:buNone/>
            </a:pPr>
            <a:r>
              <a:rPr lang="en-US" sz="1200" dirty="0">
                <a:solidFill>
                  <a:srgbClr val="3B3535"/>
                </a:solidFill>
                <a:ea typeface="Sora Light" pitchFamily="34" charset="-122"/>
                <a:cs typeface="Sora Light" pitchFamily="34" charset="-120"/>
              </a:rPr>
              <a:t>Single-session content preferences reveal viewer habits around standalone storytelling, casual viewing patterns, and content discovery behaviors that differ fundamentally from serialized engagement.</a:t>
            </a:r>
            <a:endParaRPr lang="en-US" sz="1200" dirty="0"/>
          </a:p>
        </p:txBody>
      </p:sp>
      <p:sp>
        <p:nvSpPr>
          <p:cNvPr id="9" name="Text 6"/>
          <p:cNvSpPr/>
          <p:nvPr/>
        </p:nvSpPr>
        <p:spPr>
          <a:xfrm>
            <a:off x="895112" y="2603302"/>
            <a:ext cx="6220301" cy="196691"/>
          </a:xfrm>
          <a:prstGeom prst="rect">
            <a:avLst/>
          </a:prstGeom>
          <a:noFill/>
          <a:ln/>
        </p:spPr>
        <p:txBody>
          <a:bodyPr wrap="none" lIns="0" tIns="0" rIns="0" bIns="0" rtlCol="0" anchor="t"/>
          <a:lstStyle/>
          <a:p>
            <a:pPr marL="342900" indent="-342900" algn="l">
              <a:lnSpc>
                <a:spcPts val="1500"/>
              </a:lnSpc>
              <a:buSzPct val="100000"/>
              <a:buChar char="•"/>
            </a:pPr>
            <a:r>
              <a:rPr lang="en-US" sz="1200" dirty="0">
                <a:solidFill>
                  <a:srgbClr val="3B3535"/>
                </a:solidFill>
                <a:ea typeface="Sora Light" pitchFamily="34" charset="-122"/>
                <a:cs typeface="Sora Light" pitchFamily="34" charset="-120"/>
              </a:rPr>
              <a:t>Movies serve as gateway content for new subscribers</a:t>
            </a:r>
            <a:endParaRPr lang="en-US" sz="1200" dirty="0"/>
          </a:p>
        </p:txBody>
      </p:sp>
      <p:sp>
        <p:nvSpPr>
          <p:cNvPr id="10" name="Text 7"/>
          <p:cNvSpPr/>
          <p:nvPr/>
        </p:nvSpPr>
        <p:spPr>
          <a:xfrm>
            <a:off x="895112" y="2842974"/>
            <a:ext cx="6220301" cy="196691"/>
          </a:xfrm>
          <a:prstGeom prst="rect">
            <a:avLst/>
          </a:prstGeom>
          <a:noFill/>
          <a:ln/>
        </p:spPr>
        <p:txBody>
          <a:bodyPr wrap="none" lIns="0" tIns="0" rIns="0" bIns="0" rtlCol="0" anchor="t"/>
          <a:lstStyle/>
          <a:p>
            <a:pPr marL="342900" indent="-342900" algn="l">
              <a:lnSpc>
                <a:spcPts val="1500"/>
              </a:lnSpc>
              <a:buSzPct val="100000"/>
              <a:buChar char="•"/>
            </a:pPr>
            <a:r>
              <a:rPr lang="en-US" sz="1200" dirty="0">
                <a:solidFill>
                  <a:srgbClr val="3B3535"/>
                </a:solidFill>
                <a:ea typeface="Sora Light" pitchFamily="34" charset="-122"/>
                <a:cs typeface="Sora Light" pitchFamily="34" charset="-120"/>
              </a:rPr>
              <a:t>Completion rates typically higher than series</a:t>
            </a:r>
            <a:endParaRPr lang="en-US" sz="1200" dirty="0"/>
          </a:p>
        </p:txBody>
      </p:sp>
      <p:sp>
        <p:nvSpPr>
          <p:cNvPr id="11" name="Text 8"/>
          <p:cNvSpPr/>
          <p:nvPr/>
        </p:nvSpPr>
        <p:spPr>
          <a:xfrm>
            <a:off x="895112" y="3082647"/>
            <a:ext cx="6220301" cy="196691"/>
          </a:xfrm>
          <a:prstGeom prst="rect">
            <a:avLst/>
          </a:prstGeom>
          <a:noFill/>
          <a:ln/>
        </p:spPr>
        <p:txBody>
          <a:bodyPr wrap="none" lIns="0" tIns="0" rIns="0" bIns="0" rtlCol="0" anchor="t"/>
          <a:lstStyle/>
          <a:p>
            <a:pPr marL="342900" indent="-342900" algn="l">
              <a:lnSpc>
                <a:spcPts val="1500"/>
              </a:lnSpc>
              <a:buSzPct val="100000"/>
              <a:buChar char="•"/>
            </a:pPr>
            <a:r>
              <a:rPr lang="en-US" sz="1200" dirty="0">
                <a:solidFill>
                  <a:srgbClr val="3B3535"/>
                </a:solidFill>
                <a:ea typeface="Sora Light" pitchFamily="34" charset="-122"/>
                <a:cs typeface="Sora Light" pitchFamily="34" charset="-120"/>
              </a:rPr>
              <a:t>Genre diversity broader in film consumption</a:t>
            </a:r>
            <a:endParaRPr lang="en-US" sz="1200" dirty="0"/>
          </a:p>
        </p:txBody>
      </p:sp>
      <p:sp>
        <p:nvSpPr>
          <p:cNvPr id="12" name="Shape 9"/>
          <p:cNvSpPr/>
          <p:nvPr/>
        </p:nvSpPr>
        <p:spPr>
          <a:xfrm>
            <a:off x="7376636" y="1356241"/>
            <a:ext cx="6496883" cy="2061329"/>
          </a:xfrm>
          <a:prstGeom prst="roundRect">
            <a:avLst>
              <a:gd name="adj" fmla="val 3549"/>
            </a:avLst>
          </a:prstGeom>
          <a:solidFill>
            <a:srgbClr val="FFFFFF"/>
          </a:solidFill>
          <a:ln/>
        </p:spPr>
      </p:sp>
      <p:sp>
        <p:nvSpPr>
          <p:cNvPr id="13" name="Shape 10"/>
          <p:cNvSpPr/>
          <p:nvPr/>
        </p:nvSpPr>
        <p:spPr>
          <a:xfrm>
            <a:off x="7376636" y="1341001"/>
            <a:ext cx="6496883" cy="60960"/>
          </a:xfrm>
          <a:prstGeom prst="roundRect">
            <a:avLst>
              <a:gd name="adj" fmla="val 84743"/>
            </a:avLst>
          </a:prstGeom>
          <a:solidFill>
            <a:srgbClr val="DA1B2E"/>
          </a:solidFill>
          <a:ln/>
        </p:spPr>
      </p:sp>
      <p:sp>
        <p:nvSpPr>
          <p:cNvPr id="14" name="Shape 11"/>
          <p:cNvSpPr/>
          <p:nvPr/>
        </p:nvSpPr>
        <p:spPr>
          <a:xfrm>
            <a:off x="10440531" y="1171813"/>
            <a:ext cx="368975" cy="368975"/>
          </a:xfrm>
          <a:prstGeom prst="roundRect">
            <a:avLst>
              <a:gd name="adj" fmla="val 247822"/>
            </a:avLst>
          </a:prstGeom>
          <a:solidFill>
            <a:srgbClr val="DA1B2E"/>
          </a:solidFill>
          <a:ln/>
        </p:spPr>
      </p:sp>
      <p:pic>
        <p:nvPicPr>
          <p:cNvPr id="15"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51259" y="1282541"/>
            <a:ext cx="147518" cy="147518"/>
          </a:xfrm>
          <a:prstGeom prst="rect">
            <a:avLst/>
          </a:prstGeom>
        </p:spPr>
      </p:pic>
      <p:sp>
        <p:nvSpPr>
          <p:cNvPr id="16" name="Text 12"/>
          <p:cNvSpPr/>
          <p:nvPr/>
        </p:nvSpPr>
        <p:spPr>
          <a:xfrm>
            <a:off x="7514868" y="1663660"/>
            <a:ext cx="1618298" cy="202168"/>
          </a:xfrm>
          <a:prstGeom prst="rect">
            <a:avLst/>
          </a:prstGeom>
          <a:noFill/>
          <a:ln/>
        </p:spPr>
        <p:txBody>
          <a:bodyPr wrap="none" lIns="0" tIns="0" rIns="0" bIns="0" rtlCol="0" anchor="t"/>
          <a:lstStyle/>
          <a:p>
            <a:pPr marL="0" indent="0" algn="l">
              <a:lnSpc>
                <a:spcPts val="1550"/>
              </a:lnSpc>
              <a:buNone/>
            </a:pPr>
            <a:r>
              <a:rPr lang="en-US" sz="1200" dirty="0">
                <a:solidFill>
                  <a:srgbClr val="3B3535"/>
                </a:solidFill>
                <a:ea typeface="Sora Semi Bold" pitchFamily="34" charset="-122"/>
                <a:cs typeface="Sora Semi Bold" pitchFamily="34" charset="-120"/>
              </a:rPr>
              <a:t>Series Engagement</a:t>
            </a:r>
            <a:endParaRPr lang="en-US" sz="1200" dirty="0"/>
          </a:p>
        </p:txBody>
      </p:sp>
      <p:sp>
        <p:nvSpPr>
          <p:cNvPr id="17" name="Text 13"/>
          <p:cNvSpPr/>
          <p:nvPr/>
        </p:nvSpPr>
        <p:spPr>
          <a:xfrm>
            <a:off x="7514868" y="1939528"/>
            <a:ext cx="6220420" cy="590074"/>
          </a:xfrm>
          <a:prstGeom prst="rect">
            <a:avLst/>
          </a:prstGeom>
          <a:noFill/>
          <a:ln/>
        </p:spPr>
        <p:txBody>
          <a:bodyPr wrap="square" lIns="0" tIns="0" rIns="0" bIns="0" rtlCol="0" anchor="t"/>
          <a:lstStyle/>
          <a:p>
            <a:pPr marL="0" indent="0" algn="l">
              <a:lnSpc>
                <a:spcPts val="1500"/>
              </a:lnSpc>
              <a:buNone/>
            </a:pPr>
            <a:r>
              <a:rPr lang="en-US" sz="1200" dirty="0">
                <a:solidFill>
                  <a:srgbClr val="3B3535"/>
                </a:solidFill>
                <a:ea typeface="Sora Light" pitchFamily="34" charset="-122"/>
                <a:cs typeface="Sora Light" pitchFamily="34" charset="-120"/>
              </a:rPr>
              <a:t>Episodic content drives sustained platform return behavior, creates habit formation, and generates the "binge-watching" patterns that characterize modern streaming consumption and improve retention metrics.</a:t>
            </a:r>
            <a:endParaRPr lang="en-US" sz="1200" dirty="0"/>
          </a:p>
        </p:txBody>
      </p:sp>
      <p:sp>
        <p:nvSpPr>
          <p:cNvPr id="18" name="Text 14"/>
          <p:cNvSpPr/>
          <p:nvPr/>
        </p:nvSpPr>
        <p:spPr>
          <a:xfrm>
            <a:off x="7514868" y="2603302"/>
            <a:ext cx="6220420" cy="196691"/>
          </a:xfrm>
          <a:prstGeom prst="rect">
            <a:avLst/>
          </a:prstGeom>
          <a:noFill/>
          <a:ln/>
        </p:spPr>
        <p:txBody>
          <a:bodyPr wrap="none" lIns="0" tIns="0" rIns="0" bIns="0" rtlCol="0" anchor="t"/>
          <a:lstStyle/>
          <a:p>
            <a:pPr marL="342900" indent="-342900" algn="l">
              <a:lnSpc>
                <a:spcPts val="1500"/>
              </a:lnSpc>
              <a:buSzPct val="100000"/>
              <a:buChar char="•"/>
            </a:pPr>
            <a:r>
              <a:rPr lang="en-US" sz="1200" dirty="0">
                <a:solidFill>
                  <a:srgbClr val="3B3535"/>
                </a:solidFill>
                <a:ea typeface="Sora Light" pitchFamily="34" charset="-122"/>
                <a:cs typeface="Sora Light" pitchFamily="34" charset="-120"/>
              </a:rPr>
              <a:t>Series viewers demonstrate higher lifetime value</a:t>
            </a:r>
            <a:endParaRPr lang="en-US" sz="1200" dirty="0"/>
          </a:p>
        </p:txBody>
      </p:sp>
      <p:sp>
        <p:nvSpPr>
          <p:cNvPr id="19" name="Text 15"/>
          <p:cNvSpPr/>
          <p:nvPr/>
        </p:nvSpPr>
        <p:spPr>
          <a:xfrm>
            <a:off x="7514868" y="2842974"/>
            <a:ext cx="6220420" cy="196691"/>
          </a:xfrm>
          <a:prstGeom prst="rect">
            <a:avLst/>
          </a:prstGeom>
          <a:noFill/>
          <a:ln/>
        </p:spPr>
        <p:txBody>
          <a:bodyPr wrap="none" lIns="0" tIns="0" rIns="0" bIns="0" rtlCol="0" anchor="t"/>
          <a:lstStyle/>
          <a:p>
            <a:pPr marL="342900" indent="-342900" algn="l">
              <a:lnSpc>
                <a:spcPts val="1500"/>
              </a:lnSpc>
              <a:buSzPct val="100000"/>
              <a:buChar char="•"/>
            </a:pPr>
            <a:r>
              <a:rPr lang="en-US" sz="1200" dirty="0">
                <a:solidFill>
                  <a:srgbClr val="3B3535"/>
                </a:solidFill>
                <a:ea typeface="Sora Light" pitchFamily="34" charset="-122"/>
                <a:cs typeface="Sora Light" pitchFamily="34" charset="-120"/>
              </a:rPr>
              <a:t>Episode completion predicts subscription renewal</a:t>
            </a:r>
            <a:endParaRPr lang="en-US" sz="1200" dirty="0"/>
          </a:p>
        </p:txBody>
      </p:sp>
      <p:sp>
        <p:nvSpPr>
          <p:cNvPr id="20" name="Text 16"/>
          <p:cNvSpPr/>
          <p:nvPr/>
        </p:nvSpPr>
        <p:spPr>
          <a:xfrm>
            <a:off x="7514868" y="3082647"/>
            <a:ext cx="6220420" cy="196691"/>
          </a:xfrm>
          <a:prstGeom prst="rect">
            <a:avLst/>
          </a:prstGeom>
          <a:noFill/>
          <a:ln/>
        </p:spPr>
        <p:txBody>
          <a:bodyPr wrap="none" lIns="0" tIns="0" rIns="0" bIns="0" rtlCol="0" anchor="t"/>
          <a:lstStyle/>
          <a:p>
            <a:pPr marL="342900" indent="-342900" algn="l">
              <a:lnSpc>
                <a:spcPts val="1500"/>
              </a:lnSpc>
              <a:buSzPct val="100000"/>
              <a:buChar char="•"/>
            </a:pPr>
            <a:r>
              <a:rPr lang="en-US" sz="1200" dirty="0">
                <a:solidFill>
                  <a:srgbClr val="3B3535"/>
                </a:solidFill>
                <a:ea typeface="Sora Light" pitchFamily="34" charset="-122"/>
                <a:cs typeface="Sora Light" pitchFamily="34" charset="-120"/>
              </a:rPr>
              <a:t>Serialized content creates appointment viewing</a:t>
            </a:r>
            <a:endParaRPr lang="en-US" sz="1200" dirty="0"/>
          </a:p>
        </p:txBody>
      </p:sp>
      <p:sp>
        <p:nvSpPr>
          <p:cNvPr id="22" name="Text 17"/>
          <p:cNvSpPr/>
          <p:nvPr/>
        </p:nvSpPr>
        <p:spPr>
          <a:xfrm>
            <a:off x="8814435" y="3678912"/>
            <a:ext cx="1770698" cy="202168"/>
          </a:xfrm>
          <a:prstGeom prst="rect">
            <a:avLst/>
          </a:prstGeom>
          <a:noFill/>
          <a:ln/>
        </p:spPr>
        <p:txBody>
          <a:bodyPr wrap="none" lIns="0" tIns="0" rIns="0" bIns="0" rtlCol="0" anchor="t"/>
          <a:lstStyle/>
          <a:p>
            <a:pPr marL="0" indent="0" algn="l">
              <a:lnSpc>
                <a:spcPts val="1550"/>
              </a:lnSpc>
              <a:buNone/>
            </a:pPr>
            <a:r>
              <a:rPr lang="en-US" sz="1200" dirty="0">
                <a:solidFill>
                  <a:srgbClr val="1F1E1E"/>
                </a:solidFill>
                <a:ea typeface="Sora Semi Bold" pitchFamily="34" charset="-122"/>
                <a:cs typeface="Sora Semi Bold" pitchFamily="34" charset="-120"/>
              </a:rPr>
              <a:t>Content Mix Strategy</a:t>
            </a:r>
            <a:endParaRPr lang="en-US" sz="1200" dirty="0"/>
          </a:p>
        </p:txBody>
      </p:sp>
      <p:sp>
        <p:nvSpPr>
          <p:cNvPr id="23" name="Text 18"/>
          <p:cNvSpPr/>
          <p:nvPr/>
        </p:nvSpPr>
        <p:spPr>
          <a:xfrm>
            <a:off x="8814435" y="4004072"/>
            <a:ext cx="5066586" cy="786765"/>
          </a:xfrm>
          <a:prstGeom prst="rect">
            <a:avLst/>
          </a:prstGeom>
          <a:noFill/>
          <a:ln/>
        </p:spPr>
        <p:txBody>
          <a:bodyPr wrap="square" lIns="0" tIns="0" rIns="0" bIns="0" rtlCol="0" anchor="t"/>
          <a:lstStyle/>
          <a:p>
            <a:pPr marL="0" indent="0" algn="l">
              <a:lnSpc>
                <a:spcPts val="1500"/>
              </a:lnSpc>
              <a:buNone/>
            </a:pPr>
            <a:r>
              <a:rPr lang="en-US" sz="1200" dirty="0">
                <a:solidFill>
                  <a:srgbClr val="3B3535"/>
                </a:solidFill>
                <a:ea typeface="Sora Light" pitchFamily="34" charset="-122"/>
                <a:cs typeface="Sora Light" pitchFamily="34" charset="-120"/>
              </a:rPr>
              <a:t>The balance between movies and series consumption informs content acquisition budgets and original production investments. Users who engage with both formats demonstrate the highest platform stickiness and longest subscription duration.</a:t>
            </a:r>
            <a:endParaRPr lang="en-US" sz="1200" dirty="0"/>
          </a:p>
        </p:txBody>
      </p:sp>
      <p:sp>
        <p:nvSpPr>
          <p:cNvPr id="24" name="Text 19"/>
          <p:cNvSpPr/>
          <p:nvPr/>
        </p:nvSpPr>
        <p:spPr>
          <a:xfrm>
            <a:off x="8814435" y="4901446"/>
            <a:ext cx="5066586" cy="590074"/>
          </a:xfrm>
          <a:prstGeom prst="rect">
            <a:avLst/>
          </a:prstGeom>
          <a:noFill/>
          <a:ln/>
        </p:spPr>
        <p:txBody>
          <a:bodyPr wrap="square" lIns="0" tIns="0" rIns="0" bIns="0" rtlCol="0" anchor="t"/>
          <a:lstStyle/>
          <a:p>
            <a:pPr marL="0" indent="0" algn="l">
              <a:lnSpc>
                <a:spcPts val="1500"/>
              </a:lnSpc>
              <a:buNone/>
            </a:pPr>
            <a:r>
              <a:rPr lang="en-US" sz="1200" dirty="0">
                <a:solidFill>
                  <a:srgbClr val="3B3535"/>
                </a:solidFill>
                <a:ea typeface="Sora Light" pitchFamily="34" charset="-122"/>
                <a:cs typeface="Sora Light" pitchFamily="34" charset="-120"/>
              </a:rPr>
              <a:t>Understanding individual user preferences enables more effective homepage curation and recommendation algorithms that can drive engagement across both content types.</a:t>
            </a:r>
            <a:endParaRPr lang="en-US" sz="1200" dirty="0"/>
          </a:p>
        </p:txBody>
      </p:sp>
      <p:graphicFrame>
        <p:nvGraphicFramePr>
          <p:cNvPr id="25" name="Chart 24">
            <a:extLst>
              <a:ext uri="{FF2B5EF4-FFF2-40B4-BE49-F238E27FC236}">
                <a16:creationId xmlns:a16="http://schemas.microsoft.com/office/drawing/2014/main" id="{F9586361-3BB4-2B76-6C83-F12E30D5005F}"/>
              </a:ext>
            </a:extLst>
          </p:cNvPr>
          <p:cNvGraphicFramePr>
            <a:graphicFrameLocks/>
          </p:cNvGraphicFramePr>
          <p:nvPr>
            <p:extLst>
              <p:ext uri="{D42A27DB-BD31-4B8C-83A1-F6EECF244321}">
                <p14:modId xmlns:p14="http://schemas.microsoft.com/office/powerpoint/2010/main" val="444471321"/>
              </p:ext>
            </p:extLst>
          </p:nvPr>
        </p:nvGraphicFramePr>
        <p:xfrm>
          <a:off x="1017805" y="4004072"/>
          <a:ext cx="5517535" cy="3739472"/>
        </p:xfrm>
        <a:graphic>
          <a:graphicData uri="http://schemas.openxmlformats.org/drawingml/2006/chart">
            <c:chart xmlns:c="http://schemas.openxmlformats.org/drawingml/2006/chart" xmlns:r="http://schemas.openxmlformats.org/officeDocument/2006/relationships" r:id="rId7"/>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87348" y="472797"/>
            <a:ext cx="5273397" cy="367427"/>
          </a:xfrm>
          <a:prstGeom prst="rect">
            <a:avLst/>
          </a:prstGeom>
          <a:noFill/>
          <a:ln/>
        </p:spPr>
        <p:txBody>
          <a:bodyPr wrap="none" lIns="0" tIns="0" rIns="0" bIns="0" rtlCol="0" anchor="t"/>
          <a:lstStyle/>
          <a:p>
            <a:pPr marL="0" indent="0" algn="l">
              <a:lnSpc>
                <a:spcPts val="2850"/>
              </a:lnSpc>
              <a:buNone/>
            </a:pPr>
            <a:r>
              <a:rPr lang="en-US" sz="2300" dirty="0">
                <a:solidFill>
                  <a:srgbClr val="1F1E1E"/>
                </a:solidFill>
                <a:ea typeface="Sora Semi Bold" pitchFamily="34" charset="-122"/>
                <a:cs typeface="Sora Semi Bold" pitchFamily="34" charset="-120"/>
              </a:rPr>
              <a:t>Recommendations vs Watch Hours</a:t>
            </a:r>
            <a:endParaRPr lang="en-US" sz="2300" dirty="0"/>
          </a:p>
        </p:txBody>
      </p:sp>
      <p:sp>
        <p:nvSpPr>
          <p:cNvPr id="3" name="Text 1"/>
          <p:cNvSpPr/>
          <p:nvPr/>
        </p:nvSpPr>
        <p:spPr>
          <a:xfrm>
            <a:off x="687348" y="1119426"/>
            <a:ext cx="3533299" cy="220385"/>
          </a:xfrm>
          <a:prstGeom prst="rect">
            <a:avLst/>
          </a:prstGeom>
          <a:noFill/>
          <a:ln/>
        </p:spPr>
        <p:txBody>
          <a:bodyPr wrap="none" lIns="0" tIns="0" rIns="0" bIns="0" rtlCol="0" anchor="t"/>
          <a:lstStyle/>
          <a:p>
            <a:pPr marL="0" indent="0" algn="l">
              <a:lnSpc>
                <a:spcPts val="1700"/>
              </a:lnSpc>
              <a:buNone/>
            </a:pPr>
            <a:r>
              <a:rPr lang="en-US" sz="1200" dirty="0">
                <a:solidFill>
                  <a:srgbClr val="1F1E1E"/>
                </a:solidFill>
                <a:ea typeface="Sora Semi Bold" pitchFamily="34" charset="-122"/>
                <a:cs typeface="Sora Semi Bold" pitchFamily="34" charset="-120"/>
              </a:rPr>
              <a:t>Personalization Impact on Engagement</a:t>
            </a:r>
            <a:endParaRPr lang="en-US" sz="1200" dirty="0"/>
          </a:p>
        </p:txBody>
      </p:sp>
      <p:sp>
        <p:nvSpPr>
          <p:cNvPr id="4" name="Text 2"/>
          <p:cNvSpPr/>
          <p:nvPr/>
        </p:nvSpPr>
        <p:spPr>
          <a:xfrm>
            <a:off x="687348" y="1451491"/>
            <a:ext cx="12967692" cy="535781"/>
          </a:xfrm>
          <a:prstGeom prst="rect">
            <a:avLst/>
          </a:prstGeom>
          <a:noFill/>
          <a:ln/>
        </p:spPr>
        <p:txBody>
          <a:bodyPr wrap="square" lIns="0" tIns="0" rIns="0" bIns="0" rtlCol="0" anchor="t"/>
          <a:lstStyle/>
          <a:p>
            <a:pPr marL="0" indent="0" algn="l">
              <a:lnSpc>
                <a:spcPts val="1400"/>
              </a:lnSpc>
              <a:buNone/>
            </a:pPr>
            <a:r>
              <a:rPr lang="en-US" sz="1200" dirty="0">
                <a:solidFill>
                  <a:srgbClr val="3B3535"/>
                </a:solidFill>
                <a:ea typeface="Sora Light" pitchFamily="34" charset="-122"/>
                <a:cs typeface="Sora Light" pitchFamily="34" charset="-120"/>
              </a:rPr>
              <a:t>Our recommendation engine serves as a critical driver of platform engagement, directly influencing watch hours and content discovery. This analysis quantifies the relationship between recommendation effectiveness and user consumption patterns.</a:t>
            </a:r>
            <a:endParaRPr lang="en-US" sz="1200" dirty="0"/>
          </a:p>
        </p:txBody>
      </p:sp>
      <p:sp>
        <p:nvSpPr>
          <p:cNvPr id="14" name="Text 9"/>
          <p:cNvSpPr/>
          <p:nvPr/>
        </p:nvSpPr>
        <p:spPr>
          <a:xfrm>
            <a:off x="687348" y="2330648"/>
            <a:ext cx="12480012" cy="535781"/>
          </a:xfrm>
          <a:prstGeom prst="rect">
            <a:avLst/>
          </a:prstGeom>
          <a:noFill/>
          <a:ln/>
        </p:spPr>
        <p:txBody>
          <a:bodyPr wrap="square" lIns="0" tIns="0" rIns="0" bIns="0" rtlCol="0" anchor="t"/>
          <a:lstStyle/>
          <a:p>
            <a:pPr marL="0" indent="0" algn="l">
              <a:lnSpc>
                <a:spcPts val="1400"/>
              </a:lnSpc>
              <a:buNone/>
            </a:pPr>
            <a:r>
              <a:rPr lang="en-US" sz="1200" dirty="0">
                <a:solidFill>
                  <a:srgbClr val="3B3535"/>
                </a:solidFill>
                <a:ea typeface="Sora Light" pitchFamily="34" charset="-122"/>
                <a:cs typeface="Sora Light" pitchFamily="34" charset="-120"/>
              </a:rPr>
              <a:t>The positive correlation between recommendation engagement and total watch hours validates continued investment in machine learning capabilities and content metadata enrichment. Users who actively engage with recommended content demonstrate significantly higher platform satisfaction scores and lower churn rates.</a:t>
            </a:r>
          </a:p>
          <a:p>
            <a:pPr marL="0" indent="0" algn="l">
              <a:lnSpc>
                <a:spcPts val="1400"/>
              </a:lnSpc>
              <a:buNone/>
            </a:pPr>
            <a:endParaRPr lang="en-US" sz="1200" dirty="0">
              <a:solidFill>
                <a:srgbClr val="3B3535"/>
              </a:solidFill>
              <a:ea typeface="Sora Light" pitchFamily="34" charset="-122"/>
              <a:cs typeface="Sora Light" pitchFamily="34" charset="-120"/>
            </a:endParaRPr>
          </a:p>
          <a:p>
            <a:pPr marL="0" indent="0" algn="l">
              <a:lnSpc>
                <a:spcPts val="1400"/>
              </a:lnSpc>
              <a:buNone/>
            </a:pPr>
            <a:endParaRPr lang="en-US" sz="1200" dirty="0">
              <a:solidFill>
                <a:srgbClr val="3B3535"/>
              </a:solidFill>
              <a:ea typeface="Sora Light" pitchFamily="34" charset="-122"/>
              <a:cs typeface="Sora Light" pitchFamily="34" charset="-120"/>
            </a:endParaRPr>
          </a:p>
          <a:p>
            <a:pPr marL="0" indent="0" algn="l">
              <a:lnSpc>
                <a:spcPts val="1400"/>
              </a:lnSpc>
              <a:buNone/>
            </a:pPr>
            <a:endParaRPr lang="en-US" sz="1200" dirty="0">
              <a:solidFill>
                <a:srgbClr val="3B3535"/>
              </a:solidFill>
              <a:ea typeface="Sora Light" pitchFamily="34" charset="-122"/>
              <a:cs typeface="Sora Light" pitchFamily="34" charset="-120"/>
            </a:endParaRPr>
          </a:p>
          <a:p>
            <a:pPr marL="0" indent="0" algn="l">
              <a:lnSpc>
                <a:spcPts val="1400"/>
              </a:lnSpc>
              <a:buNone/>
            </a:pPr>
            <a:r>
              <a:rPr lang="en-US" sz="1200" dirty="0">
                <a:solidFill>
                  <a:srgbClr val="3B3535"/>
                </a:solidFill>
                <a:ea typeface="Sora Light" pitchFamily="34" charset="-122"/>
                <a:cs typeface="Sora Light" pitchFamily="34" charset="-120"/>
              </a:rPr>
              <a:t>This relationship suggests that improving recommendation accuracy should remain a top technical priority, with potential returns including increased retention, higher ARPU through tier migration, and reduced customer acquisition costs through improved word-of-mouth and lower churn rates requiring replacement subscribers.</a:t>
            </a:r>
            <a:endParaRPr lang="en-US" sz="1200" dirty="0"/>
          </a:p>
        </p:txBody>
      </p:sp>
      <p:graphicFrame>
        <p:nvGraphicFramePr>
          <p:cNvPr id="15" name="Chart 14">
            <a:extLst>
              <a:ext uri="{FF2B5EF4-FFF2-40B4-BE49-F238E27FC236}">
                <a16:creationId xmlns:a16="http://schemas.microsoft.com/office/drawing/2014/main" id="{6D80D497-97A2-D5FF-CF79-A73547E77376}"/>
              </a:ext>
            </a:extLst>
          </p:cNvPr>
          <p:cNvGraphicFramePr>
            <a:graphicFrameLocks/>
          </p:cNvGraphicFramePr>
          <p:nvPr>
            <p:extLst>
              <p:ext uri="{D42A27DB-BD31-4B8C-83A1-F6EECF244321}">
                <p14:modId xmlns:p14="http://schemas.microsoft.com/office/powerpoint/2010/main" val="1254273367"/>
              </p:ext>
            </p:extLst>
          </p:nvPr>
        </p:nvGraphicFramePr>
        <p:xfrm>
          <a:off x="2225039" y="3759200"/>
          <a:ext cx="9580881" cy="422656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55796" y="450890"/>
            <a:ext cx="4477107" cy="350639"/>
          </a:xfrm>
          <a:prstGeom prst="rect">
            <a:avLst/>
          </a:prstGeom>
          <a:noFill/>
          <a:ln/>
        </p:spPr>
        <p:txBody>
          <a:bodyPr wrap="none" lIns="0" tIns="0" rIns="0" bIns="0" rtlCol="0" anchor="t"/>
          <a:lstStyle/>
          <a:p>
            <a:pPr marL="0" indent="0" algn="l">
              <a:lnSpc>
                <a:spcPts val="2750"/>
              </a:lnSpc>
              <a:buNone/>
            </a:pPr>
            <a:r>
              <a:rPr lang="en-US" sz="2200" dirty="0">
                <a:solidFill>
                  <a:srgbClr val="1F1E1E"/>
                </a:solidFill>
                <a:ea typeface="Sora Semi Bold" pitchFamily="34" charset="-122"/>
                <a:cs typeface="Sora Semi Bold" pitchFamily="34" charset="-120"/>
              </a:rPr>
              <a:t>Preferred Genres by Age Group</a:t>
            </a:r>
            <a:endParaRPr lang="en-US" sz="2200" dirty="0"/>
          </a:p>
        </p:txBody>
      </p:sp>
      <p:sp>
        <p:nvSpPr>
          <p:cNvPr id="4" name="Text 1"/>
          <p:cNvSpPr/>
          <p:nvPr/>
        </p:nvSpPr>
        <p:spPr>
          <a:xfrm>
            <a:off x="655796" y="4530090"/>
            <a:ext cx="3005852" cy="210264"/>
          </a:xfrm>
          <a:prstGeom prst="rect">
            <a:avLst/>
          </a:prstGeom>
          <a:noFill/>
          <a:ln/>
        </p:spPr>
        <p:txBody>
          <a:bodyPr wrap="none" lIns="0" tIns="0" rIns="0" bIns="0" rtlCol="0" anchor="t"/>
          <a:lstStyle/>
          <a:p>
            <a:pPr marL="0" indent="0" algn="l">
              <a:lnSpc>
                <a:spcPts val="1650"/>
              </a:lnSpc>
              <a:buNone/>
            </a:pPr>
            <a:r>
              <a:rPr lang="en-US" sz="1300" dirty="0">
                <a:solidFill>
                  <a:srgbClr val="1F1E1E"/>
                </a:solidFill>
                <a:ea typeface="Sora Semi Bold" pitchFamily="34" charset="-122"/>
                <a:cs typeface="Sora Semi Bold" pitchFamily="34" charset="-120"/>
              </a:rPr>
              <a:t>Demographic Content Preferences</a:t>
            </a:r>
            <a:endParaRPr lang="en-US" sz="1300" dirty="0"/>
          </a:p>
        </p:txBody>
      </p:sp>
      <p:sp>
        <p:nvSpPr>
          <p:cNvPr id="5" name="Text 2"/>
          <p:cNvSpPr/>
          <p:nvPr/>
        </p:nvSpPr>
        <p:spPr>
          <a:xfrm>
            <a:off x="655796" y="4900136"/>
            <a:ext cx="13318808" cy="340995"/>
          </a:xfrm>
          <a:prstGeom prst="rect">
            <a:avLst/>
          </a:prstGeom>
          <a:noFill/>
          <a:ln/>
        </p:spPr>
        <p:txBody>
          <a:bodyPr wrap="square" lIns="0" tIns="0" rIns="0" bIns="0" rtlCol="0" anchor="t"/>
          <a:lstStyle/>
          <a:p>
            <a:pPr marL="0" indent="0" algn="l">
              <a:lnSpc>
                <a:spcPts val="1300"/>
              </a:lnSpc>
              <a:buNone/>
            </a:pPr>
            <a:r>
              <a:rPr lang="en-US" sz="800" dirty="0">
                <a:solidFill>
                  <a:srgbClr val="3B3535"/>
                </a:solidFill>
                <a:ea typeface="Sora Light" pitchFamily="34" charset="-122"/>
                <a:cs typeface="Sora Light" pitchFamily="34" charset="-120"/>
              </a:rPr>
              <a:t>Age-based genre preferences reveal distinct consumption patterns that should inform content acquisition strategies, marketing campaigns, and user interface design. Understanding these preferences enables more effective content investment decisions and targeted promotional activities that resonate with specific demographic segments.</a:t>
            </a:r>
            <a:endParaRPr lang="en-US" sz="800" dirty="0"/>
          </a:p>
        </p:txBody>
      </p:sp>
      <p:pic>
        <p:nvPicPr>
          <p:cNvPr id="6"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5796" y="5374243"/>
            <a:ext cx="106561" cy="106561"/>
          </a:xfrm>
          <a:prstGeom prst="rect">
            <a:avLst/>
          </a:prstGeom>
        </p:spPr>
      </p:pic>
      <p:sp>
        <p:nvSpPr>
          <p:cNvPr id="7" name="Shape 3"/>
          <p:cNvSpPr/>
          <p:nvPr/>
        </p:nvSpPr>
        <p:spPr>
          <a:xfrm>
            <a:off x="655796" y="5526762"/>
            <a:ext cx="4368522" cy="15240"/>
          </a:xfrm>
          <a:prstGeom prst="rect">
            <a:avLst/>
          </a:prstGeom>
          <a:solidFill>
            <a:srgbClr val="DA1B2E"/>
          </a:solidFill>
          <a:ln/>
        </p:spPr>
      </p:sp>
      <p:sp>
        <p:nvSpPr>
          <p:cNvPr id="8" name="Text 4"/>
          <p:cNvSpPr/>
          <p:nvPr/>
        </p:nvSpPr>
        <p:spPr>
          <a:xfrm>
            <a:off x="655796" y="5610463"/>
            <a:ext cx="1402318" cy="175260"/>
          </a:xfrm>
          <a:prstGeom prst="rect">
            <a:avLst/>
          </a:prstGeom>
          <a:noFill/>
          <a:ln/>
        </p:spPr>
        <p:txBody>
          <a:bodyPr wrap="none" lIns="0" tIns="0" rIns="0" bIns="0" rtlCol="0" anchor="t"/>
          <a:lstStyle/>
          <a:p>
            <a:pPr marL="0" indent="0" algn="l">
              <a:lnSpc>
                <a:spcPts val="1350"/>
              </a:lnSpc>
              <a:buNone/>
            </a:pPr>
            <a:r>
              <a:rPr lang="en-US" sz="1100" dirty="0">
                <a:solidFill>
                  <a:srgbClr val="3B3535"/>
                </a:solidFill>
                <a:ea typeface="Sora Semi Bold" pitchFamily="34" charset="-122"/>
                <a:cs typeface="Sora Semi Bold" pitchFamily="34" charset="-120"/>
              </a:rPr>
              <a:t>18-24 Age Group</a:t>
            </a:r>
            <a:endParaRPr lang="en-US" sz="1100" dirty="0"/>
          </a:p>
        </p:txBody>
      </p:sp>
      <p:sp>
        <p:nvSpPr>
          <p:cNvPr id="9" name="Text 5"/>
          <p:cNvSpPr/>
          <p:nvPr/>
        </p:nvSpPr>
        <p:spPr>
          <a:xfrm>
            <a:off x="655796" y="5849660"/>
            <a:ext cx="4368522" cy="511493"/>
          </a:xfrm>
          <a:prstGeom prst="rect">
            <a:avLst/>
          </a:prstGeom>
          <a:noFill/>
          <a:ln/>
        </p:spPr>
        <p:txBody>
          <a:bodyPr wrap="square" lIns="0" tIns="0" rIns="0" bIns="0" rtlCol="0" anchor="t"/>
          <a:lstStyle/>
          <a:p>
            <a:pPr marL="0" indent="0" algn="l">
              <a:lnSpc>
                <a:spcPts val="1300"/>
              </a:lnSpc>
              <a:buNone/>
            </a:pPr>
            <a:r>
              <a:rPr lang="en-US" sz="800" dirty="0">
                <a:solidFill>
                  <a:srgbClr val="3B3535"/>
                </a:solidFill>
                <a:ea typeface="Sora Light" pitchFamily="34" charset="-122"/>
                <a:cs typeface="Sora Light" pitchFamily="34" charset="-120"/>
              </a:rPr>
              <a:t>Younger viewers gravitate toward action, horror, and sci-fi content, demonstrating openness to genre experimentation and trending titles that gain social media momentum.</a:t>
            </a:r>
            <a:endParaRPr lang="en-US" sz="800" dirty="0"/>
          </a:p>
        </p:txBody>
      </p:sp>
      <p:pic>
        <p:nvPicPr>
          <p:cNvPr id="10"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30879" y="5374243"/>
            <a:ext cx="106561" cy="106561"/>
          </a:xfrm>
          <a:prstGeom prst="rect">
            <a:avLst/>
          </a:prstGeom>
        </p:spPr>
      </p:pic>
      <p:sp>
        <p:nvSpPr>
          <p:cNvPr id="11" name="Shape 6"/>
          <p:cNvSpPr/>
          <p:nvPr/>
        </p:nvSpPr>
        <p:spPr>
          <a:xfrm>
            <a:off x="5130879" y="5526762"/>
            <a:ext cx="4368522" cy="15240"/>
          </a:xfrm>
          <a:prstGeom prst="rect">
            <a:avLst/>
          </a:prstGeom>
          <a:solidFill>
            <a:srgbClr val="DA1B2E"/>
          </a:solidFill>
          <a:ln/>
        </p:spPr>
      </p:sp>
      <p:sp>
        <p:nvSpPr>
          <p:cNvPr id="12" name="Text 7"/>
          <p:cNvSpPr/>
          <p:nvPr/>
        </p:nvSpPr>
        <p:spPr>
          <a:xfrm>
            <a:off x="5130879" y="5610463"/>
            <a:ext cx="1402318" cy="175260"/>
          </a:xfrm>
          <a:prstGeom prst="rect">
            <a:avLst/>
          </a:prstGeom>
          <a:noFill/>
          <a:ln/>
        </p:spPr>
        <p:txBody>
          <a:bodyPr wrap="none" lIns="0" tIns="0" rIns="0" bIns="0" rtlCol="0" anchor="t"/>
          <a:lstStyle/>
          <a:p>
            <a:pPr marL="0" indent="0" algn="l">
              <a:lnSpc>
                <a:spcPts val="1350"/>
              </a:lnSpc>
              <a:buNone/>
            </a:pPr>
            <a:r>
              <a:rPr lang="en-US" sz="1100" dirty="0">
                <a:solidFill>
                  <a:srgbClr val="3B3535"/>
                </a:solidFill>
                <a:ea typeface="Sora Semi Bold" pitchFamily="34" charset="-122"/>
                <a:cs typeface="Sora Semi Bold" pitchFamily="34" charset="-120"/>
              </a:rPr>
              <a:t>25-44 Age Group</a:t>
            </a:r>
            <a:endParaRPr lang="en-US" sz="1100" dirty="0"/>
          </a:p>
        </p:txBody>
      </p:sp>
      <p:sp>
        <p:nvSpPr>
          <p:cNvPr id="13" name="Text 8"/>
          <p:cNvSpPr/>
          <p:nvPr/>
        </p:nvSpPr>
        <p:spPr>
          <a:xfrm>
            <a:off x="5130879" y="5849660"/>
            <a:ext cx="4368522" cy="511493"/>
          </a:xfrm>
          <a:prstGeom prst="rect">
            <a:avLst/>
          </a:prstGeom>
          <a:noFill/>
          <a:ln/>
        </p:spPr>
        <p:txBody>
          <a:bodyPr wrap="square" lIns="0" tIns="0" rIns="0" bIns="0" rtlCol="0" anchor="t"/>
          <a:lstStyle/>
          <a:p>
            <a:pPr marL="0" indent="0" algn="l">
              <a:lnSpc>
                <a:spcPts val="1300"/>
              </a:lnSpc>
              <a:buNone/>
            </a:pPr>
            <a:r>
              <a:rPr lang="en-US" sz="800" dirty="0">
                <a:solidFill>
                  <a:srgbClr val="3B3535"/>
                </a:solidFill>
                <a:ea typeface="Sora Light" pitchFamily="34" charset="-122"/>
                <a:cs typeface="Sora Light" pitchFamily="34" charset="-120"/>
              </a:rPr>
              <a:t>Core demographic shows diverse preferences spanning drama, comedy, and documentary content, with highest overall engagement and subscription conversion rates.</a:t>
            </a:r>
            <a:endParaRPr lang="en-US" sz="800" dirty="0"/>
          </a:p>
        </p:txBody>
      </p:sp>
      <p:pic>
        <p:nvPicPr>
          <p:cNvPr id="14"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05962" y="5374243"/>
            <a:ext cx="106561" cy="106561"/>
          </a:xfrm>
          <a:prstGeom prst="rect">
            <a:avLst/>
          </a:prstGeom>
        </p:spPr>
      </p:pic>
      <p:sp>
        <p:nvSpPr>
          <p:cNvPr id="15" name="Shape 9"/>
          <p:cNvSpPr/>
          <p:nvPr/>
        </p:nvSpPr>
        <p:spPr>
          <a:xfrm>
            <a:off x="9605962" y="5526762"/>
            <a:ext cx="4368522" cy="15240"/>
          </a:xfrm>
          <a:prstGeom prst="rect">
            <a:avLst/>
          </a:prstGeom>
          <a:solidFill>
            <a:srgbClr val="DA1B2E"/>
          </a:solidFill>
          <a:ln/>
        </p:spPr>
      </p:sp>
      <p:sp>
        <p:nvSpPr>
          <p:cNvPr id="16" name="Text 10"/>
          <p:cNvSpPr/>
          <p:nvPr/>
        </p:nvSpPr>
        <p:spPr>
          <a:xfrm>
            <a:off x="9605962" y="5610463"/>
            <a:ext cx="1402318" cy="175260"/>
          </a:xfrm>
          <a:prstGeom prst="rect">
            <a:avLst/>
          </a:prstGeom>
          <a:noFill/>
          <a:ln/>
        </p:spPr>
        <p:txBody>
          <a:bodyPr wrap="none" lIns="0" tIns="0" rIns="0" bIns="0" rtlCol="0" anchor="t"/>
          <a:lstStyle/>
          <a:p>
            <a:pPr marL="0" indent="0" algn="l">
              <a:lnSpc>
                <a:spcPts val="1350"/>
              </a:lnSpc>
              <a:buNone/>
            </a:pPr>
            <a:r>
              <a:rPr lang="en-US" sz="1100" dirty="0">
                <a:solidFill>
                  <a:srgbClr val="3B3535"/>
                </a:solidFill>
                <a:ea typeface="Sora Semi Bold" pitchFamily="34" charset="-122"/>
                <a:cs typeface="Sora Semi Bold" pitchFamily="34" charset="-120"/>
              </a:rPr>
              <a:t>45+ Age Group</a:t>
            </a:r>
            <a:endParaRPr lang="en-US" sz="1100" dirty="0"/>
          </a:p>
        </p:txBody>
      </p:sp>
      <p:sp>
        <p:nvSpPr>
          <p:cNvPr id="17" name="Text 11"/>
          <p:cNvSpPr/>
          <p:nvPr/>
        </p:nvSpPr>
        <p:spPr>
          <a:xfrm>
            <a:off x="9605962" y="5849660"/>
            <a:ext cx="4368522" cy="511493"/>
          </a:xfrm>
          <a:prstGeom prst="rect">
            <a:avLst/>
          </a:prstGeom>
          <a:noFill/>
          <a:ln/>
        </p:spPr>
        <p:txBody>
          <a:bodyPr wrap="square" lIns="0" tIns="0" rIns="0" bIns="0" rtlCol="0" anchor="t"/>
          <a:lstStyle/>
          <a:p>
            <a:pPr marL="0" indent="0" algn="l">
              <a:lnSpc>
                <a:spcPts val="1300"/>
              </a:lnSpc>
              <a:buNone/>
            </a:pPr>
            <a:r>
              <a:rPr lang="en-US" sz="800" dirty="0">
                <a:solidFill>
                  <a:srgbClr val="3B3535"/>
                </a:solidFill>
                <a:ea typeface="Sora Light" pitchFamily="34" charset="-122"/>
                <a:cs typeface="Sora Light" pitchFamily="34" charset="-120"/>
              </a:rPr>
              <a:t>Older subscribers favor drama, classic films, and documentary content, with longer average watch sessions and strong loyalty to familiar genres and franchises.</a:t>
            </a:r>
            <a:endParaRPr lang="en-US" sz="800" dirty="0"/>
          </a:p>
        </p:txBody>
      </p:sp>
      <p:sp>
        <p:nvSpPr>
          <p:cNvPr id="18" name="Text 12"/>
          <p:cNvSpPr/>
          <p:nvPr/>
        </p:nvSpPr>
        <p:spPr>
          <a:xfrm>
            <a:off x="655796" y="6667500"/>
            <a:ext cx="2178963" cy="175260"/>
          </a:xfrm>
          <a:prstGeom prst="rect">
            <a:avLst/>
          </a:prstGeom>
          <a:noFill/>
          <a:ln/>
        </p:spPr>
        <p:txBody>
          <a:bodyPr wrap="none" lIns="0" tIns="0" rIns="0" bIns="0" rtlCol="0" anchor="t"/>
          <a:lstStyle/>
          <a:p>
            <a:pPr marL="0" indent="0" algn="l">
              <a:lnSpc>
                <a:spcPts val="1350"/>
              </a:lnSpc>
              <a:buNone/>
            </a:pPr>
            <a:r>
              <a:rPr lang="en-US" sz="1100" dirty="0">
                <a:solidFill>
                  <a:srgbClr val="1F1E1E"/>
                </a:solidFill>
                <a:ea typeface="Sora Semi Bold" pitchFamily="34" charset="-122"/>
                <a:cs typeface="Sora Semi Bold" pitchFamily="34" charset="-120"/>
              </a:rPr>
              <a:t>Content Strategy Implications</a:t>
            </a:r>
            <a:endParaRPr lang="en-US" sz="1100" dirty="0"/>
          </a:p>
        </p:txBody>
      </p:sp>
      <p:sp>
        <p:nvSpPr>
          <p:cNvPr id="19" name="Text 13"/>
          <p:cNvSpPr/>
          <p:nvPr/>
        </p:nvSpPr>
        <p:spPr>
          <a:xfrm>
            <a:off x="655796" y="6949321"/>
            <a:ext cx="6529388" cy="170497"/>
          </a:xfrm>
          <a:prstGeom prst="rect">
            <a:avLst/>
          </a:prstGeom>
          <a:noFill/>
          <a:ln/>
        </p:spPr>
        <p:txBody>
          <a:bodyPr wrap="none" lIns="0" tIns="0" rIns="0" bIns="0" rtlCol="0" anchor="t"/>
          <a:lstStyle/>
          <a:p>
            <a:pPr marL="342900" indent="-342900" algn="l">
              <a:lnSpc>
                <a:spcPts val="1300"/>
              </a:lnSpc>
              <a:buSzPct val="100000"/>
              <a:buChar char="•"/>
            </a:pPr>
            <a:r>
              <a:rPr lang="en-US" sz="800" dirty="0">
                <a:solidFill>
                  <a:srgbClr val="3B3535"/>
                </a:solidFill>
                <a:ea typeface="Sora Light" pitchFamily="34" charset="-122"/>
                <a:cs typeface="Sora Light" pitchFamily="34" charset="-120"/>
              </a:rPr>
              <a:t>Licensing budgets should reflect demographic distribution and genre preferences</a:t>
            </a:r>
            <a:endParaRPr lang="en-US" sz="800" dirty="0"/>
          </a:p>
        </p:txBody>
      </p:sp>
      <p:sp>
        <p:nvSpPr>
          <p:cNvPr id="20" name="Text 14"/>
          <p:cNvSpPr/>
          <p:nvPr/>
        </p:nvSpPr>
        <p:spPr>
          <a:xfrm>
            <a:off x="655796" y="7157085"/>
            <a:ext cx="6529388" cy="170497"/>
          </a:xfrm>
          <a:prstGeom prst="rect">
            <a:avLst/>
          </a:prstGeom>
          <a:noFill/>
          <a:ln/>
        </p:spPr>
        <p:txBody>
          <a:bodyPr wrap="none" lIns="0" tIns="0" rIns="0" bIns="0" rtlCol="0" anchor="t"/>
          <a:lstStyle/>
          <a:p>
            <a:pPr marL="342900" indent="-342900" algn="l">
              <a:lnSpc>
                <a:spcPts val="1300"/>
              </a:lnSpc>
              <a:buSzPct val="100000"/>
              <a:buChar char="•"/>
            </a:pPr>
            <a:r>
              <a:rPr lang="en-US" sz="800" dirty="0">
                <a:solidFill>
                  <a:srgbClr val="3B3535"/>
                </a:solidFill>
                <a:ea typeface="Sora Light" pitchFamily="34" charset="-122"/>
                <a:cs typeface="Sora Light" pitchFamily="34" charset="-120"/>
              </a:rPr>
              <a:t>Original content development can target underserved age-genre combinations</a:t>
            </a:r>
            <a:endParaRPr lang="en-US" sz="800" dirty="0"/>
          </a:p>
        </p:txBody>
      </p:sp>
      <p:sp>
        <p:nvSpPr>
          <p:cNvPr id="21" name="Text 15"/>
          <p:cNvSpPr/>
          <p:nvPr/>
        </p:nvSpPr>
        <p:spPr>
          <a:xfrm>
            <a:off x="655796" y="7364849"/>
            <a:ext cx="6529388" cy="170497"/>
          </a:xfrm>
          <a:prstGeom prst="rect">
            <a:avLst/>
          </a:prstGeom>
          <a:noFill/>
          <a:ln/>
        </p:spPr>
        <p:txBody>
          <a:bodyPr wrap="none" lIns="0" tIns="0" rIns="0" bIns="0" rtlCol="0" anchor="t"/>
          <a:lstStyle/>
          <a:p>
            <a:pPr marL="342900" indent="-342900" algn="l">
              <a:lnSpc>
                <a:spcPts val="1300"/>
              </a:lnSpc>
              <a:buSzPct val="100000"/>
              <a:buChar char="•"/>
            </a:pPr>
            <a:r>
              <a:rPr lang="en-US" sz="800" dirty="0">
                <a:solidFill>
                  <a:srgbClr val="3B3535"/>
                </a:solidFill>
                <a:ea typeface="Sora Light" pitchFamily="34" charset="-122"/>
                <a:cs typeface="Sora Light" pitchFamily="34" charset="-120"/>
              </a:rPr>
              <a:t>Marketing creative should be tailored to demographic viewing patterns</a:t>
            </a:r>
            <a:endParaRPr lang="en-US" sz="800" dirty="0"/>
          </a:p>
        </p:txBody>
      </p:sp>
      <p:sp>
        <p:nvSpPr>
          <p:cNvPr id="22" name="Text 16"/>
          <p:cNvSpPr/>
          <p:nvPr/>
        </p:nvSpPr>
        <p:spPr>
          <a:xfrm>
            <a:off x="655796" y="7572613"/>
            <a:ext cx="6529388" cy="170497"/>
          </a:xfrm>
          <a:prstGeom prst="rect">
            <a:avLst/>
          </a:prstGeom>
          <a:noFill/>
          <a:ln/>
        </p:spPr>
        <p:txBody>
          <a:bodyPr wrap="none" lIns="0" tIns="0" rIns="0" bIns="0" rtlCol="0" anchor="t"/>
          <a:lstStyle/>
          <a:p>
            <a:pPr marL="342900" indent="-342900" algn="l">
              <a:lnSpc>
                <a:spcPts val="1300"/>
              </a:lnSpc>
              <a:buSzPct val="100000"/>
              <a:buChar char="•"/>
            </a:pPr>
            <a:r>
              <a:rPr lang="en-US" sz="800" dirty="0">
                <a:solidFill>
                  <a:srgbClr val="3B3535"/>
                </a:solidFill>
                <a:ea typeface="Sora Light" pitchFamily="34" charset="-122"/>
                <a:cs typeface="Sora Light" pitchFamily="34" charset="-120"/>
              </a:rPr>
              <a:t>Homepage layouts can dynamically prioritize genres based on user age</a:t>
            </a:r>
            <a:endParaRPr lang="en-US" sz="800" dirty="0"/>
          </a:p>
        </p:txBody>
      </p:sp>
      <p:sp>
        <p:nvSpPr>
          <p:cNvPr id="23" name="Text 17"/>
          <p:cNvSpPr/>
          <p:nvPr/>
        </p:nvSpPr>
        <p:spPr>
          <a:xfrm>
            <a:off x="7452836" y="6667500"/>
            <a:ext cx="2486739" cy="175260"/>
          </a:xfrm>
          <a:prstGeom prst="rect">
            <a:avLst/>
          </a:prstGeom>
          <a:noFill/>
          <a:ln/>
        </p:spPr>
        <p:txBody>
          <a:bodyPr wrap="none" lIns="0" tIns="0" rIns="0" bIns="0" rtlCol="0" anchor="t"/>
          <a:lstStyle/>
          <a:p>
            <a:pPr marL="0" indent="0" algn="l">
              <a:lnSpc>
                <a:spcPts val="1350"/>
              </a:lnSpc>
              <a:buNone/>
            </a:pPr>
            <a:r>
              <a:rPr lang="en-US" sz="1100" dirty="0">
                <a:solidFill>
                  <a:srgbClr val="1F1E1E"/>
                </a:solidFill>
                <a:ea typeface="Sora Semi Bold" pitchFamily="34" charset="-122"/>
                <a:cs typeface="Sora Semi Bold" pitchFamily="34" charset="-120"/>
              </a:rPr>
              <a:t>Cross-Generational Opportunities</a:t>
            </a:r>
            <a:endParaRPr lang="en-US" sz="1100" dirty="0"/>
          </a:p>
        </p:txBody>
      </p:sp>
      <p:sp>
        <p:nvSpPr>
          <p:cNvPr id="24" name="Text 18"/>
          <p:cNvSpPr/>
          <p:nvPr/>
        </p:nvSpPr>
        <p:spPr>
          <a:xfrm>
            <a:off x="7452836" y="6949321"/>
            <a:ext cx="6529388" cy="340995"/>
          </a:xfrm>
          <a:prstGeom prst="rect">
            <a:avLst/>
          </a:prstGeom>
          <a:noFill/>
          <a:ln/>
        </p:spPr>
        <p:txBody>
          <a:bodyPr wrap="square" lIns="0" tIns="0" rIns="0" bIns="0" rtlCol="0" anchor="t"/>
          <a:lstStyle/>
          <a:p>
            <a:pPr marL="0" indent="0" algn="l">
              <a:lnSpc>
                <a:spcPts val="1300"/>
              </a:lnSpc>
              <a:buNone/>
            </a:pPr>
            <a:r>
              <a:rPr lang="en-US" sz="800" dirty="0">
                <a:solidFill>
                  <a:srgbClr val="3B3535"/>
                </a:solidFill>
                <a:ea typeface="Sora Light" pitchFamily="34" charset="-122"/>
                <a:cs typeface="Sora Light" pitchFamily="34" charset="-120"/>
              </a:rPr>
              <a:t>Identifying content with broad age appeal enables efficient marketing spend and creates opportunities for shared viewing experiences that can drive household subscription consolidation and reduce per-user acquisition costs.</a:t>
            </a:r>
            <a:endParaRPr lang="en-US" sz="800" dirty="0"/>
          </a:p>
        </p:txBody>
      </p:sp>
      <p:graphicFrame>
        <p:nvGraphicFramePr>
          <p:cNvPr id="25" name="Chart 24">
            <a:extLst>
              <a:ext uri="{FF2B5EF4-FFF2-40B4-BE49-F238E27FC236}">
                <a16:creationId xmlns:a16="http://schemas.microsoft.com/office/drawing/2014/main" id="{B5A9C815-A577-CEE0-6222-0E686FC75B73}"/>
              </a:ext>
            </a:extLst>
          </p:cNvPr>
          <p:cNvGraphicFramePr>
            <a:graphicFrameLocks/>
          </p:cNvGraphicFramePr>
          <p:nvPr>
            <p:extLst>
              <p:ext uri="{D42A27DB-BD31-4B8C-83A1-F6EECF244321}">
                <p14:modId xmlns:p14="http://schemas.microsoft.com/office/powerpoint/2010/main" val="2810887681"/>
              </p:ext>
            </p:extLst>
          </p:nvPr>
        </p:nvGraphicFramePr>
        <p:xfrm>
          <a:off x="1185194" y="1553002"/>
          <a:ext cx="3112901" cy="2758966"/>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26" name="Chart 25">
            <a:extLst>
              <a:ext uri="{FF2B5EF4-FFF2-40B4-BE49-F238E27FC236}">
                <a16:creationId xmlns:a16="http://schemas.microsoft.com/office/drawing/2014/main" id="{193545BE-B31D-3DFD-488B-CCC038302132}"/>
              </a:ext>
            </a:extLst>
          </p:cNvPr>
          <p:cNvGraphicFramePr>
            <a:graphicFrameLocks/>
          </p:cNvGraphicFramePr>
          <p:nvPr>
            <p:extLst>
              <p:ext uri="{D42A27DB-BD31-4B8C-83A1-F6EECF244321}">
                <p14:modId xmlns:p14="http://schemas.microsoft.com/office/powerpoint/2010/main" val="734568719"/>
              </p:ext>
            </p:extLst>
          </p:nvPr>
        </p:nvGraphicFramePr>
        <p:xfrm>
          <a:off x="5024318" y="1520634"/>
          <a:ext cx="4475083" cy="2583570"/>
        </p:xfrm>
        <a:graphic>
          <a:graphicData uri="http://schemas.openxmlformats.org/drawingml/2006/chart">
            <c:chart xmlns:c="http://schemas.openxmlformats.org/drawingml/2006/chart" xmlns:r="http://schemas.openxmlformats.org/officeDocument/2006/relationships" r:id="rId10"/>
          </a:graphicData>
        </a:graphic>
      </p:graphicFrame>
      <p:pic>
        <p:nvPicPr>
          <p:cNvPr id="28" name="Graphic 27">
            <a:extLst>
              <a:ext uri="{FF2B5EF4-FFF2-40B4-BE49-F238E27FC236}">
                <a16:creationId xmlns:a16="http://schemas.microsoft.com/office/drawing/2014/main" id="{58717E1D-98FB-3020-FA28-A0A63032F96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909412" y="1414939"/>
            <a:ext cx="1838325" cy="2466975"/>
          </a:xfrm>
          <a:prstGeom prst="rect">
            <a:avLst/>
          </a:prstGeom>
        </p:spPr>
      </p:pic>
      <p:pic>
        <p:nvPicPr>
          <p:cNvPr id="30" name="Graphic 29">
            <a:extLst>
              <a:ext uri="{FF2B5EF4-FFF2-40B4-BE49-F238E27FC236}">
                <a16:creationId xmlns:a16="http://schemas.microsoft.com/office/drawing/2014/main" id="{A87671C8-4292-C2AB-1703-5441057A614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2471717" y="1431251"/>
            <a:ext cx="1838325" cy="2476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58309" y="727115"/>
            <a:ext cx="3468410" cy="405408"/>
          </a:xfrm>
          <a:prstGeom prst="rect">
            <a:avLst/>
          </a:prstGeom>
          <a:noFill/>
          <a:ln/>
        </p:spPr>
        <p:txBody>
          <a:bodyPr wrap="none" lIns="0" tIns="0" rIns="0" bIns="0" rtlCol="0" anchor="t"/>
          <a:lstStyle/>
          <a:p>
            <a:pPr marL="0" indent="0" algn="l">
              <a:lnSpc>
                <a:spcPts val="3150"/>
              </a:lnSpc>
              <a:buNone/>
            </a:pPr>
            <a:r>
              <a:rPr lang="en-US" sz="2550" dirty="0">
                <a:solidFill>
                  <a:srgbClr val="1F1E1E"/>
                </a:solidFill>
                <a:ea typeface="Sora Semi Bold" pitchFamily="34" charset="-122"/>
                <a:cs typeface="Sora Semi Bold" pitchFamily="34" charset="-120"/>
              </a:rPr>
              <a:t>Device Usage Trends</a:t>
            </a:r>
            <a:endParaRPr lang="en-US" sz="2550" dirty="0"/>
          </a:p>
        </p:txBody>
      </p:sp>
      <p:sp>
        <p:nvSpPr>
          <p:cNvPr id="4" name="Text 1"/>
          <p:cNvSpPr/>
          <p:nvPr/>
        </p:nvSpPr>
        <p:spPr>
          <a:xfrm>
            <a:off x="8143756" y="1440418"/>
            <a:ext cx="2508409" cy="243126"/>
          </a:xfrm>
          <a:prstGeom prst="rect">
            <a:avLst/>
          </a:prstGeom>
          <a:noFill/>
          <a:ln/>
        </p:spPr>
        <p:txBody>
          <a:bodyPr wrap="none" lIns="0" tIns="0" rIns="0" bIns="0" rtlCol="0" anchor="t"/>
          <a:lstStyle/>
          <a:p>
            <a:pPr marL="0" indent="0" algn="l">
              <a:lnSpc>
                <a:spcPts val="1900"/>
              </a:lnSpc>
              <a:buNone/>
            </a:pPr>
            <a:r>
              <a:rPr lang="en-US" sz="1500" dirty="0">
                <a:solidFill>
                  <a:srgbClr val="1F1E1E"/>
                </a:solidFill>
                <a:ea typeface="Sora Semi Bold" pitchFamily="34" charset="-122"/>
                <a:cs typeface="Sora Semi Bold" pitchFamily="34" charset="-120"/>
              </a:rPr>
              <a:t>Platform Access Patterns</a:t>
            </a:r>
            <a:endParaRPr lang="en-US" sz="1500" dirty="0"/>
          </a:p>
        </p:txBody>
      </p:sp>
      <p:sp>
        <p:nvSpPr>
          <p:cNvPr id="5" name="Text 2"/>
          <p:cNvSpPr/>
          <p:nvPr/>
        </p:nvSpPr>
        <p:spPr>
          <a:xfrm>
            <a:off x="8143756" y="1806654"/>
            <a:ext cx="5735836" cy="591503"/>
          </a:xfrm>
          <a:prstGeom prst="rect">
            <a:avLst/>
          </a:prstGeom>
          <a:noFill/>
          <a:ln/>
        </p:spPr>
        <p:txBody>
          <a:bodyPr wrap="square" lIns="0" tIns="0" rIns="0" bIns="0" rtlCol="0" anchor="t"/>
          <a:lstStyle/>
          <a:p>
            <a:pPr marL="0" indent="0" algn="l">
              <a:lnSpc>
                <a:spcPts val="1550"/>
              </a:lnSpc>
              <a:buNone/>
            </a:pPr>
            <a:r>
              <a:rPr lang="en-US" sz="950" dirty="0">
                <a:solidFill>
                  <a:srgbClr val="3B3535"/>
                </a:solidFill>
                <a:ea typeface="Sora Light" pitchFamily="34" charset="-122"/>
                <a:cs typeface="Sora Light" pitchFamily="34" charset="-120"/>
              </a:rPr>
              <a:t>Device preference analysis reveals how subscribers access content, informing technical development priorities, quality of service investments, and user experience optimization efforts across platforms.</a:t>
            </a:r>
            <a:endParaRPr lang="en-US" sz="950" dirty="0"/>
          </a:p>
        </p:txBody>
      </p:sp>
      <p:sp>
        <p:nvSpPr>
          <p:cNvPr id="6" name="Shape 3"/>
          <p:cNvSpPr/>
          <p:nvPr/>
        </p:nvSpPr>
        <p:spPr>
          <a:xfrm>
            <a:off x="8143756" y="2598301"/>
            <a:ext cx="5309949" cy="153948"/>
          </a:xfrm>
          <a:prstGeom prst="roundRect">
            <a:avLst>
              <a:gd name="adj" fmla="val 33619"/>
            </a:avLst>
          </a:prstGeom>
          <a:solidFill>
            <a:srgbClr val="F9D2D6"/>
          </a:solidFill>
          <a:ln w="7620">
            <a:solidFill>
              <a:srgbClr val="DFB8BC"/>
            </a:solidFill>
            <a:prstDash val="solid"/>
          </a:ln>
        </p:spPr>
      </p:sp>
      <p:sp>
        <p:nvSpPr>
          <p:cNvPr id="7" name="Shape 4"/>
          <p:cNvSpPr/>
          <p:nvPr/>
        </p:nvSpPr>
        <p:spPr>
          <a:xfrm>
            <a:off x="8143755" y="2598301"/>
            <a:ext cx="2320409" cy="153948"/>
          </a:xfrm>
          <a:prstGeom prst="roundRect">
            <a:avLst>
              <a:gd name="adj" fmla="val 33619"/>
            </a:avLst>
          </a:prstGeom>
          <a:solidFill>
            <a:srgbClr val="DA1B2E"/>
          </a:solidFill>
          <a:ln/>
        </p:spPr>
      </p:sp>
      <p:sp>
        <p:nvSpPr>
          <p:cNvPr id="8" name="Text 5"/>
          <p:cNvSpPr/>
          <p:nvPr/>
        </p:nvSpPr>
        <p:spPr>
          <a:xfrm>
            <a:off x="13546098" y="2598301"/>
            <a:ext cx="333494" cy="153948"/>
          </a:xfrm>
          <a:prstGeom prst="rect">
            <a:avLst/>
          </a:prstGeom>
          <a:noFill/>
          <a:ln/>
        </p:spPr>
        <p:txBody>
          <a:bodyPr wrap="none" lIns="0" tIns="0" rIns="0" bIns="0" rtlCol="0" anchor="t"/>
          <a:lstStyle/>
          <a:p>
            <a:pPr marL="0" indent="0" algn="l">
              <a:lnSpc>
                <a:spcPts val="1200"/>
              </a:lnSpc>
              <a:buNone/>
            </a:pPr>
            <a:r>
              <a:rPr lang="en-US" sz="1200" dirty="0">
                <a:solidFill>
                  <a:srgbClr val="3B3535"/>
                </a:solidFill>
                <a:ea typeface="Sora Semi Bold" pitchFamily="34" charset="-122"/>
                <a:cs typeface="Sora Semi Bold" pitchFamily="34" charset="-120"/>
              </a:rPr>
              <a:t>21.5%</a:t>
            </a:r>
            <a:endParaRPr lang="en-US" sz="1200" dirty="0"/>
          </a:p>
        </p:txBody>
      </p:sp>
      <p:sp>
        <p:nvSpPr>
          <p:cNvPr id="9" name="Text 6"/>
          <p:cNvSpPr/>
          <p:nvPr/>
        </p:nvSpPr>
        <p:spPr>
          <a:xfrm>
            <a:off x="8143756" y="2906197"/>
            <a:ext cx="1621393" cy="202644"/>
          </a:xfrm>
          <a:prstGeom prst="rect">
            <a:avLst/>
          </a:prstGeom>
          <a:noFill/>
          <a:ln/>
        </p:spPr>
        <p:txBody>
          <a:bodyPr wrap="none" lIns="0" tIns="0" rIns="0" bIns="0" rtlCol="0" anchor="t"/>
          <a:lstStyle/>
          <a:p>
            <a:pPr>
              <a:lnSpc>
                <a:spcPts val="1550"/>
              </a:lnSpc>
            </a:pPr>
            <a:r>
              <a:rPr lang="en-US" sz="1250" dirty="0">
                <a:solidFill>
                  <a:srgbClr val="3B3535"/>
                </a:solidFill>
                <a:ea typeface="Sora Semi Bold" pitchFamily="34" charset="-122"/>
                <a:cs typeface="Sora Semi Bold" pitchFamily="34" charset="-120"/>
              </a:rPr>
              <a:t>Tablet</a:t>
            </a:r>
            <a:endParaRPr lang="en-US" sz="1250" dirty="0"/>
          </a:p>
        </p:txBody>
      </p:sp>
      <p:sp>
        <p:nvSpPr>
          <p:cNvPr id="10" name="Text 7"/>
          <p:cNvSpPr/>
          <p:nvPr/>
        </p:nvSpPr>
        <p:spPr>
          <a:xfrm>
            <a:off x="8143756" y="3231952"/>
            <a:ext cx="5735836" cy="197168"/>
          </a:xfrm>
          <a:prstGeom prst="rect">
            <a:avLst/>
          </a:prstGeom>
          <a:noFill/>
          <a:ln/>
        </p:spPr>
        <p:txBody>
          <a:bodyPr wrap="none" lIns="0" tIns="0" rIns="0" bIns="0" rtlCol="0" anchor="t"/>
          <a:lstStyle/>
          <a:p>
            <a:pPr marL="0" indent="0" algn="l">
              <a:lnSpc>
                <a:spcPts val="1550"/>
              </a:lnSpc>
              <a:buNone/>
            </a:pPr>
            <a:r>
              <a:rPr lang="en-US" sz="950" dirty="0">
                <a:solidFill>
                  <a:srgbClr val="3B3535"/>
                </a:solidFill>
                <a:ea typeface="Sora Light" pitchFamily="34" charset="-122"/>
                <a:cs typeface="Sora Light" pitchFamily="34" charset="-120"/>
              </a:rPr>
              <a:t>Highest proportion of total streaming hours</a:t>
            </a:r>
            <a:endParaRPr lang="en-US" sz="950" dirty="0"/>
          </a:p>
        </p:txBody>
      </p:sp>
      <p:sp>
        <p:nvSpPr>
          <p:cNvPr id="11" name="Shape 8"/>
          <p:cNvSpPr/>
          <p:nvPr/>
        </p:nvSpPr>
        <p:spPr>
          <a:xfrm>
            <a:off x="8143756" y="3737015"/>
            <a:ext cx="5310902" cy="153948"/>
          </a:xfrm>
          <a:prstGeom prst="roundRect">
            <a:avLst>
              <a:gd name="adj" fmla="val 33619"/>
            </a:avLst>
          </a:prstGeom>
          <a:solidFill>
            <a:srgbClr val="F9D2D6"/>
          </a:solidFill>
          <a:ln w="7620">
            <a:solidFill>
              <a:srgbClr val="DFB8BC"/>
            </a:solidFill>
            <a:prstDash val="solid"/>
          </a:ln>
        </p:spPr>
      </p:sp>
      <p:sp>
        <p:nvSpPr>
          <p:cNvPr id="12" name="Shape 9"/>
          <p:cNvSpPr/>
          <p:nvPr/>
        </p:nvSpPr>
        <p:spPr>
          <a:xfrm>
            <a:off x="8143756" y="3737015"/>
            <a:ext cx="2018109" cy="153948"/>
          </a:xfrm>
          <a:prstGeom prst="roundRect">
            <a:avLst>
              <a:gd name="adj" fmla="val 33619"/>
            </a:avLst>
          </a:prstGeom>
          <a:solidFill>
            <a:srgbClr val="DA1B2E"/>
          </a:solidFill>
          <a:ln/>
        </p:spPr>
      </p:sp>
      <p:sp>
        <p:nvSpPr>
          <p:cNvPr id="13" name="Text 10"/>
          <p:cNvSpPr/>
          <p:nvPr/>
        </p:nvSpPr>
        <p:spPr>
          <a:xfrm>
            <a:off x="13547050" y="3737015"/>
            <a:ext cx="332542" cy="153948"/>
          </a:xfrm>
          <a:prstGeom prst="rect">
            <a:avLst/>
          </a:prstGeom>
          <a:noFill/>
          <a:ln/>
        </p:spPr>
        <p:txBody>
          <a:bodyPr wrap="none" lIns="0" tIns="0" rIns="0" bIns="0" rtlCol="0" anchor="t"/>
          <a:lstStyle/>
          <a:p>
            <a:pPr marL="0" indent="0" algn="l">
              <a:lnSpc>
                <a:spcPts val="1200"/>
              </a:lnSpc>
              <a:buNone/>
            </a:pPr>
            <a:r>
              <a:rPr lang="en-US" sz="1200" dirty="0">
                <a:solidFill>
                  <a:srgbClr val="3B3535"/>
                </a:solidFill>
                <a:ea typeface="Sora Semi Bold" pitchFamily="34" charset="-122"/>
                <a:cs typeface="Sora Semi Bold" pitchFamily="34" charset="-120"/>
              </a:rPr>
              <a:t>20.9%</a:t>
            </a:r>
            <a:endParaRPr lang="en-US" sz="1200" dirty="0"/>
          </a:p>
        </p:txBody>
      </p:sp>
      <p:sp>
        <p:nvSpPr>
          <p:cNvPr id="14" name="Text 11"/>
          <p:cNvSpPr/>
          <p:nvPr/>
        </p:nvSpPr>
        <p:spPr>
          <a:xfrm>
            <a:off x="8143756" y="4044910"/>
            <a:ext cx="1621393" cy="202644"/>
          </a:xfrm>
          <a:prstGeom prst="rect">
            <a:avLst/>
          </a:prstGeom>
          <a:noFill/>
          <a:ln/>
        </p:spPr>
        <p:txBody>
          <a:bodyPr wrap="none" lIns="0" tIns="0" rIns="0" bIns="0" rtlCol="0" anchor="t"/>
          <a:lstStyle/>
          <a:p>
            <a:pPr marL="0" indent="0" algn="l">
              <a:lnSpc>
                <a:spcPts val="1550"/>
              </a:lnSpc>
              <a:buNone/>
            </a:pPr>
            <a:r>
              <a:rPr lang="en-US" sz="1250" dirty="0">
                <a:solidFill>
                  <a:srgbClr val="3B3535"/>
                </a:solidFill>
                <a:ea typeface="Sora Semi Bold" pitchFamily="34" charset="-122"/>
                <a:cs typeface="Sora Semi Bold" pitchFamily="34" charset="-120"/>
              </a:rPr>
              <a:t>Smartphone/Smart TV Usage</a:t>
            </a:r>
            <a:endParaRPr lang="en-US" sz="1250" dirty="0"/>
          </a:p>
        </p:txBody>
      </p:sp>
      <p:sp>
        <p:nvSpPr>
          <p:cNvPr id="15" name="Text 12"/>
          <p:cNvSpPr/>
          <p:nvPr/>
        </p:nvSpPr>
        <p:spPr>
          <a:xfrm>
            <a:off x="8143756" y="4370665"/>
            <a:ext cx="5735836" cy="197168"/>
          </a:xfrm>
          <a:prstGeom prst="rect">
            <a:avLst/>
          </a:prstGeom>
          <a:noFill/>
          <a:ln/>
        </p:spPr>
        <p:txBody>
          <a:bodyPr wrap="none" lIns="0" tIns="0" rIns="0" bIns="0" rtlCol="0" anchor="t"/>
          <a:lstStyle/>
          <a:p>
            <a:pPr marL="0" indent="0" algn="l">
              <a:lnSpc>
                <a:spcPts val="1550"/>
              </a:lnSpc>
              <a:buNone/>
            </a:pPr>
            <a:r>
              <a:rPr lang="en-US" sz="950" dirty="0">
                <a:solidFill>
                  <a:srgbClr val="3B3535"/>
                </a:solidFill>
                <a:ea typeface="Sora Light" pitchFamily="34" charset="-122"/>
                <a:cs typeface="Sora Light" pitchFamily="34" charset="-120"/>
              </a:rPr>
              <a:t>Second-largest device category by engagement</a:t>
            </a:r>
            <a:endParaRPr lang="en-US" sz="950" dirty="0"/>
          </a:p>
        </p:txBody>
      </p:sp>
      <p:sp>
        <p:nvSpPr>
          <p:cNvPr id="16" name="Shape 13"/>
          <p:cNvSpPr/>
          <p:nvPr/>
        </p:nvSpPr>
        <p:spPr>
          <a:xfrm>
            <a:off x="8143756" y="4875728"/>
            <a:ext cx="5295424" cy="153948"/>
          </a:xfrm>
          <a:prstGeom prst="roundRect">
            <a:avLst>
              <a:gd name="adj" fmla="val 33619"/>
            </a:avLst>
          </a:prstGeom>
          <a:solidFill>
            <a:srgbClr val="F9D2D6"/>
          </a:solidFill>
          <a:ln w="7620">
            <a:solidFill>
              <a:srgbClr val="DFB8BC"/>
            </a:solidFill>
            <a:prstDash val="solid"/>
          </a:ln>
        </p:spPr>
      </p:sp>
      <p:sp>
        <p:nvSpPr>
          <p:cNvPr id="17" name="Shape 14"/>
          <p:cNvSpPr/>
          <p:nvPr/>
        </p:nvSpPr>
        <p:spPr>
          <a:xfrm>
            <a:off x="8143756" y="4875728"/>
            <a:ext cx="3389114" cy="153948"/>
          </a:xfrm>
          <a:prstGeom prst="roundRect">
            <a:avLst>
              <a:gd name="adj" fmla="val 33619"/>
            </a:avLst>
          </a:prstGeom>
          <a:solidFill>
            <a:srgbClr val="DA1B2E"/>
          </a:solidFill>
          <a:ln/>
        </p:spPr>
      </p:sp>
      <p:sp>
        <p:nvSpPr>
          <p:cNvPr id="18" name="Text 15"/>
          <p:cNvSpPr/>
          <p:nvPr/>
        </p:nvSpPr>
        <p:spPr>
          <a:xfrm>
            <a:off x="13531572" y="4875728"/>
            <a:ext cx="348020" cy="153948"/>
          </a:xfrm>
          <a:prstGeom prst="rect">
            <a:avLst/>
          </a:prstGeom>
          <a:noFill/>
          <a:ln/>
        </p:spPr>
        <p:txBody>
          <a:bodyPr wrap="none" lIns="0" tIns="0" rIns="0" bIns="0" rtlCol="0" anchor="t"/>
          <a:lstStyle/>
          <a:p>
            <a:pPr marL="0" indent="0" algn="l">
              <a:lnSpc>
                <a:spcPts val="1200"/>
              </a:lnSpc>
              <a:buNone/>
            </a:pPr>
            <a:r>
              <a:rPr lang="en-US" sz="1200" dirty="0">
                <a:solidFill>
                  <a:srgbClr val="3B3535"/>
                </a:solidFill>
                <a:ea typeface="Sora Semi Bold" pitchFamily="34" charset="-122"/>
                <a:cs typeface="Sora Semi Bold" pitchFamily="34" charset="-120"/>
              </a:rPr>
              <a:t>36%</a:t>
            </a:r>
            <a:endParaRPr lang="en-US" sz="1200" dirty="0"/>
          </a:p>
        </p:txBody>
      </p:sp>
      <p:sp>
        <p:nvSpPr>
          <p:cNvPr id="19" name="Text 16"/>
          <p:cNvSpPr/>
          <p:nvPr/>
        </p:nvSpPr>
        <p:spPr>
          <a:xfrm>
            <a:off x="8143756" y="5183624"/>
            <a:ext cx="1621393" cy="202644"/>
          </a:xfrm>
          <a:prstGeom prst="rect">
            <a:avLst/>
          </a:prstGeom>
          <a:noFill/>
          <a:ln/>
        </p:spPr>
        <p:txBody>
          <a:bodyPr wrap="none" lIns="0" tIns="0" rIns="0" bIns="0" rtlCol="0" anchor="t"/>
          <a:lstStyle/>
          <a:p>
            <a:pPr marL="0" indent="0" algn="l">
              <a:lnSpc>
                <a:spcPts val="1550"/>
              </a:lnSpc>
              <a:buNone/>
            </a:pPr>
            <a:r>
              <a:rPr lang="en-US" sz="1250" dirty="0">
                <a:solidFill>
                  <a:srgbClr val="3B3535"/>
                </a:solidFill>
                <a:ea typeface="Sora Semi Bold" pitchFamily="34" charset="-122"/>
                <a:cs typeface="Sora Semi Bold" pitchFamily="34" charset="-120"/>
              </a:rPr>
              <a:t>Other Devices</a:t>
            </a:r>
            <a:endParaRPr lang="en-US" sz="1250" dirty="0"/>
          </a:p>
        </p:txBody>
      </p:sp>
      <p:sp>
        <p:nvSpPr>
          <p:cNvPr id="20" name="Text 17"/>
          <p:cNvSpPr/>
          <p:nvPr/>
        </p:nvSpPr>
        <p:spPr>
          <a:xfrm>
            <a:off x="8143756" y="5509379"/>
            <a:ext cx="5735836" cy="197168"/>
          </a:xfrm>
          <a:prstGeom prst="rect">
            <a:avLst/>
          </a:prstGeom>
          <a:noFill/>
          <a:ln/>
        </p:spPr>
        <p:txBody>
          <a:bodyPr wrap="none" lIns="0" tIns="0" rIns="0" bIns="0" rtlCol="0" anchor="t"/>
          <a:lstStyle/>
          <a:p>
            <a:pPr marL="0" indent="0" algn="l">
              <a:lnSpc>
                <a:spcPts val="1550"/>
              </a:lnSpc>
              <a:buNone/>
            </a:pPr>
            <a:r>
              <a:rPr lang="en-US" sz="950" dirty="0">
                <a:solidFill>
                  <a:srgbClr val="3B3535"/>
                </a:solidFill>
                <a:ea typeface="Sora Light" pitchFamily="34" charset="-122"/>
                <a:cs typeface="Sora Light" pitchFamily="34" charset="-120"/>
              </a:rPr>
              <a:t>Desktop and Laptops</a:t>
            </a:r>
            <a:endParaRPr lang="en-US" sz="950" dirty="0"/>
          </a:p>
        </p:txBody>
      </p:sp>
      <p:sp>
        <p:nvSpPr>
          <p:cNvPr id="21" name="Text 18"/>
          <p:cNvSpPr/>
          <p:nvPr/>
        </p:nvSpPr>
        <p:spPr>
          <a:xfrm>
            <a:off x="758309" y="5983724"/>
            <a:ext cx="13113782" cy="985837"/>
          </a:xfrm>
          <a:prstGeom prst="rect">
            <a:avLst/>
          </a:prstGeom>
          <a:noFill/>
          <a:ln/>
        </p:spPr>
        <p:txBody>
          <a:bodyPr wrap="square" lIns="0" tIns="0" rIns="0" bIns="0" rtlCol="0" anchor="t"/>
          <a:lstStyle/>
          <a:p>
            <a:pPr marL="0" indent="0" algn="l">
              <a:lnSpc>
                <a:spcPts val="1550"/>
              </a:lnSpc>
              <a:buNone/>
            </a:pPr>
            <a:endParaRPr lang="en-US" sz="950" dirty="0"/>
          </a:p>
        </p:txBody>
      </p:sp>
      <p:sp>
        <p:nvSpPr>
          <p:cNvPr id="22" name="Text 19"/>
          <p:cNvSpPr/>
          <p:nvPr/>
        </p:nvSpPr>
        <p:spPr>
          <a:xfrm>
            <a:off x="758309" y="7108150"/>
            <a:ext cx="13113782" cy="394335"/>
          </a:xfrm>
          <a:prstGeom prst="rect">
            <a:avLst/>
          </a:prstGeom>
          <a:noFill/>
          <a:ln/>
        </p:spPr>
        <p:txBody>
          <a:bodyPr wrap="square" lIns="0" tIns="0" rIns="0" bIns="0" rtlCol="0" anchor="t"/>
          <a:lstStyle/>
          <a:p>
            <a:pPr marL="0" indent="0" algn="l">
              <a:lnSpc>
                <a:spcPts val="1550"/>
              </a:lnSpc>
              <a:buNone/>
            </a:pPr>
            <a:endParaRPr lang="en-US" sz="950" dirty="0"/>
          </a:p>
        </p:txBody>
      </p:sp>
      <p:graphicFrame>
        <p:nvGraphicFramePr>
          <p:cNvPr id="23" name="Chart 22">
            <a:extLst>
              <a:ext uri="{FF2B5EF4-FFF2-40B4-BE49-F238E27FC236}">
                <a16:creationId xmlns:a16="http://schemas.microsoft.com/office/drawing/2014/main" id="{186A7200-9550-A3CD-CF52-D3D3ADCBBDD9}"/>
              </a:ext>
            </a:extLst>
          </p:cNvPr>
          <p:cNvGraphicFramePr>
            <a:graphicFrameLocks/>
          </p:cNvGraphicFramePr>
          <p:nvPr>
            <p:extLst>
              <p:ext uri="{D42A27DB-BD31-4B8C-83A1-F6EECF244321}">
                <p14:modId xmlns:p14="http://schemas.microsoft.com/office/powerpoint/2010/main" val="1968779943"/>
              </p:ext>
            </p:extLst>
          </p:nvPr>
        </p:nvGraphicFramePr>
        <p:xfrm>
          <a:off x="750807" y="1796494"/>
          <a:ext cx="5309949" cy="3811826"/>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39735" y="508516"/>
            <a:ext cx="3938349" cy="395407"/>
          </a:xfrm>
          <a:prstGeom prst="rect">
            <a:avLst/>
          </a:prstGeom>
          <a:noFill/>
          <a:ln/>
        </p:spPr>
        <p:txBody>
          <a:bodyPr wrap="none" lIns="0" tIns="0" rIns="0" bIns="0" rtlCol="0" anchor="t"/>
          <a:lstStyle/>
          <a:p>
            <a:pPr marL="0" indent="0" algn="l">
              <a:lnSpc>
                <a:spcPts val="3100"/>
              </a:lnSpc>
              <a:buNone/>
            </a:pPr>
            <a:r>
              <a:rPr lang="en-US" sz="2450" dirty="0">
                <a:solidFill>
                  <a:srgbClr val="1F1E1E"/>
                </a:solidFill>
                <a:ea typeface="Sora Semi Bold" pitchFamily="34" charset="-122"/>
                <a:cs typeface="Sora Semi Bold" pitchFamily="34" charset="-120"/>
              </a:rPr>
              <a:t>Peak Watch Time Trends</a:t>
            </a:r>
            <a:endParaRPr lang="en-US" sz="2450" dirty="0"/>
          </a:p>
        </p:txBody>
      </p:sp>
      <p:sp>
        <p:nvSpPr>
          <p:cNvPr id="4" name="Text 1"/>
          <p:cNvSpPr/>
          <p:nvPr/>
        </p:nvSpPr>
        <p:spPr>
          <a:xfrm>
            <a:off x="7469386" y="1204317"/>
            <a:ext cx="2618303" cy="237173"/>
          </a:xfrm>
          <a:prstGeom prst="rect">
            <a:avLst/>
          </a:prstGeom>
          <a:noFill/>
          <a:ln/>
        </p:spPr>
        <p:txBody>
          <a:bodyPr wrap="none" lIns="0" tIns="0" rIns="0" bIns="0" rtlCol="0" anchor="t"/>
          <a:lstStyle/>
          <a:p>
            <a:pPr marL="0" indent="0" algn="l">
              <a:lnSpc>
                <a:spcPts val="1850"/>
              </a:lnSpc>
              <a:buNone/>
            </a:pPr>
            <a:r>
              <a:rPr lang="en-US" sz="1450" dirty="0">
                <a:solidFill>
                  <a:srgbClr val="1F1E1E"/>
                </a:solidFill>
                <a:ea typeface="Sora Semi Bold" pitchFamily="34" charset="-122"/>
                <a:cs typeface="Sora Semi Bold" pitchFamily="34" charset="-120"/>
              </a:rPr>
              <a:t>Temporal Viewing Patterns</a:t>
            </a:r>
            <a:endParaRPr lang="en-US" sz="1450" dirty="0"/>
          </a:p>
        </p:txBody>
      </p:sp>
      <p:sp>
        <p:nvSpPr>
          <p:cNvPr id="5" name="Text 2"/>
          <p:cNvSpPr/>
          <p:nvPr/>
        </p:nvSpPr>
        <p:spPr>
          <a:xfrm>
            <a:off x="7469386" y="1561624"/>
            <a:ext cx="6428899" cy="577215"/>
          </a:xfrm>
          <a:prstGeom prst="rect">
            <a:avLst/>
          </a:prstGeom>
          <a:noFill/>
          <a:ln/>
        </p:spPr>
        <p:txBody>
          <a:bodyPr wrap="square" lIns="0" tIns="0" rIns="0" bIns="0" rtlCol="0" anchor="t"/>
          <a:lstStyle/>
          <a:p>
            <a:pPr marL="0" indent="0" algn="l">
              <a:lnSpc>
                <a:spcPts val="1500"/>
              </a:lnSpc>
              <a:buNone/>
            </a:pPr>
            <a:r>
              <a:rPr lang="en-US" sz="900" dirty="0">
                <a:solidFill>
                  <a:srgbClr val="3B3535"/>
                </a:solidFill>
                <a:ea typeface="Sora Light" pitchFamily="34" charset="-122"/>
                <a:cs typeface="Sora Light" pitchFamily="34" charset="-120"/>
              </a:rPr>
              <a:t>Understanding when users engage with content enables optimization of content releases, infrastructure capacity planning, and marketing communications timing to maximize impact and minimize technical disruption.</a:t>
            </a:r>
            <a:endParaRPr lang="en-US" sz="900" dirty="0"/>
          </a:p>
        </p:txBody>
      </p:sp>
      <p:sp>
        <p:nvSpPr>
          <p:cNvPr id="6" name="Shape 3"/>
          <p:cNvSpPr/>
          <p:nvPr/>
        </p:nvSpPr>
        <p:spPr>
          <a:xfrm>
            <a:off x="10676215" y="2273975"/>
            <a:ext cx="15240" cy="3093363"/>
          </a:xfrm>
          <a:prstGeom prst="roundRect">
            <a:avLst>
              <a:gd name="adj" fmla="val 331318"/>
            </a:avLst>
          </a:prstGeom>
          <a:solidFill>
            <a:srgbClr val="DFB8BC"/>
          </a:solidFill>
          <a:ln/>
        </p:spPr>
      </p:sp>
      <p:sp>
        <p:nvSpPr>
          <p:cNvPr id="7" name="Shape 4"/>
          <p:cNvSpPr/>
          <p:nvPr/>
        </p:nvSpPr>
        <p:spPr>
          <a:xfrm>
            <a:off x="10203240" y="2401491"/>
            <a:ext cx="360640" cy="15240"/>
          </a:xfrm>
          <a:prstGeom prst="roundRect">
            <a:avLst>
              <a:gd name="adj" fmla="val 331318"/>
            </a:avLst>
          </a:prstGeom>
          <a:solidFill>
            <a:srgbClr val="DFB8BC"/>
          </a:solidFill>
          <a:ln/>
        </p:spPr>
      </p:sp>
      <p:sp>
        <p:nvSpPr>
          <p:cNvPr id="8" name="Shape 5"/>
          <p:cNvSpPr/>
          <p:nvPr/>
        </p:nvSpPr>
        <p:spPr>
          <a:xfrm>
            <a:off x="10548640" y="2273975"/>
            <a:ext cx="270391" cy="270391"/>
          </a:xfrm>
          <a:prstGeom prst="roundRect">
            <a:avLst>
              <a:gd name="adj" fmla="val 18674"/>
            </a:avLst>
          </a:prstGeom>
          <a:solidFill>
            <a:srgbClr val="F9D2D6"/>
          </a:solidFill>
          <a:ln w="7620">
            <a:solidFill>
              <a:srgbClr val="DFB8BC"/>
            </a:solidFill>
            <a:prstDash val="solid"/>
          </a:ln>
        </p:spPr>
      </p:sp>
      <p:sp>
        <p:nvSpPr>
          <p:cNvPr id="9" name="Text 6"/>
          <p:cNvSpPr/>
          <p:nvPr/>
        </p:nvSpPr>
        <p:spPr>
          <a:xfrm>
            <a:off x="10588883" y="2290524"/>
            <a:ext cx="189786" cy="237173"/>
          </a:xfrm>
          <a:prstGeom prst="rect">
            <a:avLst/>
          </a:prstGeom>
          <a:noFill/>
          <a:ln/>
        </p:spPr>
        <p:txBody>
          <a:bodyPr wrap="none" lIns="0" tIns="0" rIns="0" bIns="0" rtlCol="0" anchor="t"/>
          <a:lstStyle/>
          <a:p>
            <a:pPr marL="0" indent="0" algn="ctr">
              <a:lnSpc>
                <a:spcPts val="1450"/>
              </a:lnSpc>
              <a:buNone/>
            </a:pPr>
            <a:r>
              <a:rPr lang="en-US" sz="1450" dirty="0">
                <a:solidFill>
                  <a:srgbClr val="3B3535"/>
                </a:solidFill>
                <a:ea typeface="Sora Semi Bold" pitchFamily="34" charset="-122"/>
                <a:cs typeface="Sora Semi Bold" pitchFamily="34" charset="-120"/>
              </a:rPr>
              <a:t>1</a:t>
            </a:r>
            <a:endParaRPr lang="en-US" sz="1450" dirty="0"/>
          </a:p>
        </p:txBody>
      </p:sp>
      <p:sp>
        <p:nvSpPr>
          <p:cNvPr id="10" name="Text 7"/>
          <p:cNvSpPr/>
          <p:nvPr/>
        </p:nvSpPr>
        <p:spPr>
          <a:xfrm>
            <a:off x="8374499" y="2315289"/>
            <a:ext cx="1708309" cy="197763"/>
          </a:xfrm>
          <a:prstGeom prst="rect">
            <a:avLst/>
          </a:prstGeom>
          <a:noFill/>
          <a:ln/>
        </p:spPr>
        <p:txBody>
          <a:bodyPr wrap="none" lIns="0" tIns="0" rIns="0" bIns="0" rtlCol="0" anchor="t"/>
          <a:lstStyle/>
          <a:p>
            <a:pPr marL="0" indent="0" algn="r">
              <a:lnSpc>
                <a:spcPts val="1550"/>
              </a:lnSpc>
              <a:buNone/>
            </a:pPr>
            <a:r>
              <a:rPr lang="en-US" sz="1200" dirty="0">
                <a:solidFill>
                  <a:srgbClr val="3B3535"/>
                </a:solidFill>
                <a:ea typeface="Sora Semi Bold" pitchFamily="34" charset="-122"/>
                <a:cs typeface="Sora Semi Bold" pitchFamily="34" charset="-120"/>
              </a:rPr>
              <a:t>Morning (6am-12pm)</a:t>
            </a:r>
            <a:endParaRPr lang="en-US" sz="1200" dirty="0"/>
          </a:p>
        </p:txBody>
      </p:sp>
      <p:sp>
        <p:nvSpPr>
          <p:cNvPr id="11" name="Text 8"/>
          <p:cNvSpPr/>
          <p:nvPr/>
        </p:nvSpPr>
        <p:spPr>
          <a:xfrm>
            <a:off x="7469386" y="2633186"/>
            <a:ext cx="2613422" cy="577215"/>
          </a:xfrm>
          <a:prstGeom prst="rect">
            <a:avLst/>
          </a:prstGeom>
          <a:noFill/>
          <a:ln/>
        </p:spPr>
        <p:txBody>
          <a:bodyPr wrap="square" lIns="0" tIns="0" rIns="0" bIns="0" rtlCol="0" anchor="t"/>
          <a:lstStyle/>
          <a:p>
            <a:pPr marL="0" indent="0" algn="r">
              <a:lnSpc>
                <a:spcPts val="1500"/>
              </a:lnSpc>
              <a:buNone/>
            </a:pPr>
            <a:r>
              <a:rPr lang="en-US" sz="900" dirty="0">
                <a:solidFill>
                  <a:srgbClr val="3B3535"/>
                </a:solidFill>
                <a:ea typeface="Sora Light" pitchFamily="34" charset="-122"/>
                <a:cs typeface="Sora Light" pitchFamily="34" charset="-120"/>
              </a:rPr>
              <a:t>Highest engagement period, primarily mobile viewing during commutes with news and short-form content preference</a:t>
            </a:r>
            <a:endParaRPr lang="en-US" sz="900" dirty="0"/>
          </a:p>
        </p:txBody>
      </p:sp>
      <p:sp>
        <p:nvSpPr>
          <p:cNvPr id="12" name="Shape 9"/>
          <p:cNvSpPr/>
          <p:nvPr/>
        </p:nvSpPr>
        <p:spPr>
          <a:xfrm>
            <a:off x="10803791" y="3122652"/>
            <a:ext cx="360640" cy="15240"/>
          </a:xfrm>
          <a:prstGeom prst="roundRect">
            <a:avLst>
              <a:gd name="adj" fmla="val 331318"/>
            </a:avLst>
          </a:prstGeom>
          <a:solidFill>
            <a:srgbClr val="DFB8BC"/>
          </a:solidFill>
          <a:ln/>
        </p:spPr>
      </p:sp>
      <p:sp>
        <p:nvSpPr>
          <p:cNvPr id="13" name="Shape 10"/>
          <p:cNvSpPr/>
          <p:nvPr/>
        </p:nvSpPr>
        <p:spPr>
          <a:xfrm>
            <a:off x="10548640" y="2995136"/>
            <a:ext cx="270391" cy="270391"/>
          </a:xfrm>
          <a:prstGeom prst="roundRect">
            <a:avLst>
              <a:gd name="adj" fmla="val 18674"/>
            </a:avLst>
          </a:prstGeom>
          <a:solidFill>
            <a:srgbClr val="F9D2D6"/>
          </a:solidFill>
          <a:ln w="7620">
            <a:solidFill>
              <a:srgbClr val="DFB8BC"/>
            </a:solidFill>
            <a:prstDash val="solid"/>
          </a:ln>
        </p:spPr>
      </p:sp>
      <p:sp>
        <p:nvSpPr>
          <p:cNvPr id="14" name="Text 11"/>
          <p:cNvSpPr/>
          <p:nvPr/>
        </p:nvSpPr>
        <p:spPr>
          <a:xfrm>
            <a:off x="10588883" y="3011686"/>
            <a:ext cx="189786" cy="237173"/>
          </a:xfrm>
          <a:prstGeom prst="rect">
            <a:avLst/>
          </a:prstGeom>
          <a:noFill/>
          <a:ln/>
        </p:spPr>
        <p:txBody>
          <a:bodyPr wrap="none" lIns="0" tIns="0" rIns="0" bIns="0" rtlCol="0" anchor="t"/>
          <a:lstStyle/>
          <a:p>
            <a:pPr marL="0" indent="0" algn="ctr">
              <a:lnSpc>
                <a:spcPts val="1450"/>
              </a:lnSpc>
              <a:buNone/>
            </a:pPr>
            <a:r>
              <a:rPr lang="en-US" sz="1450" dirty="0">
                <a:solidFill>
                  <a:srgbClr val="3B3535"/>
                </a:solidFill>
                <a:ea typeface="Sora Semi Bold" pitchFamily="34" charset="-122"/>
                <a:cs typeface="Sora Semi Bold" pitchFamily="34" charset="-120"/>
              </a:rPr>
              <a:t>2</a:t>
            </a:r>
            <a:endParaRPr lang="en-US" sz="1450" dirty="0"/>
          </a:p>
        </p:txBody>
      </p:sp>
      <p:sp>
        <p:nvSpPr>
          <p:cNvPr id="15" name="Text 12"/>
          <p:cNvSpPr/>
          <p:nvPr/>
        </p:nvSpPr>
        <p:spPr>
          <a:xfrm>
            <a:off x="11284863" y="3036451"/>
            <a:ext cx="1871782" cy="197763"/>
          </a:xfrm>
          <a:prstGeom prst="rect">
            <a:avLst/>
          </a:prstGeom>
          <a:noFill/>
          <a:ln/>
        </p:spPr>
        <p:txBody>
          <a:bodyPr wrap="none" lIns="0" tIns="0" rIns="0" bIns="0" rtlCol="0" anchor="t"/>
          <a:lstStyle/>
          <a:p>
            <a:pPr marL="0" indent="0" algn="l">
              <a:lnSpc>
                <a:spcPts val="1550"/>
              </a:lnSpc>
              <a:buNone/>
            </a:pPr>
            <a:r>
              <a:rPr lang="en-US" sz="1200" dirty="0">
                <a:solidFill>
                  <a:srgbClr val="3B3535"/>
                </a:solidFill>
                <a:ea typeface="Sora Semi Bold" pitchFamily="34" charset="-122"/>
                <a:cs typeface="Sora Semi Bold" pitchFamily="34" charset="-120"/>
              </a:rPr>
              <a:t>Afternoon (12pm-6pm)</a:t>
            </a:r>
            <a:endParaRPr lang="en-US" sz="1200" dirty="0"/>
          </a:p>
        </p:txBody>
      </p:sp>
      <p:sp>
        <p:nvSpPr>
          <p:cNvPr id="16" name="Text 13"/>
          <p:cNvSpPr/>
          <p:nvPr/>
        </p:nvSpPr>
        <p:spPr>
          <a:xfrm>
            <a:off x="11284863" y="3354348"/>
            <a:ext cx="2613422" cy="577215"/>
          </a:xfrm>
          <a:prstGeom prst="rect">
            <a:avLst/>
          </a:prstGeom>
          <a:noFill/>
          <a:ln/>
        </p:spPr>
        <p:txBody>
          <a:bodyPr wrap="square" lIns="0" tIns="0" rIns="0" bIns="0" rtlCol="0" anchor="t"/>
          <a:lstStyle/>
          <a:p>
            <a:pPr marL="0" indent="0" algn="l">
              <a:lnSpc>
                <a:spcPts val="1500"/>
              </a:lnSpc>
              <a:buNone/>
            </a:pPr>
            <a:r>
              <a:rPr lang="en-US" sz="900" dirty="0">
                <a:solidFill>
                  <a:srgbClr val="3B3535"/>
                </a:solidFill>
                <a:ea typeface="Sora Light" pitchFamily="34" charset="-122"/>
                <a:cs typeface="Sora Light" pitchFamily="34" charset="-120"/>
              </a:rPr>
              <a:t>Moderate engagement with gradual increase toward evening, mixed device usage patterns</a:t>
            </a:r>
            <a:endParaRPr lang="en-US" sz="900" dirty="0"/>
          </a:p>
        </p:txBody>
      </p:sp>
      <p:sp>
        <p:nvSpPr>
          <p:cNvPr id="17" name="Shape 14"/>
          <p:cNvSpPr/>
          <p:nvPr/>
        </p:nvSpPr>
        <p:spPr>
          <a:xfrm>
            <a:off x="10203240" y="3744278"/>
            <a:ext cx="360640" cy="15240"/>
          </a:xfrm>
          <a:prstGeom prst="roundRect">
            <a:avLst>
              <a:gd name="adj" fmla="val 331318"/>
            </a:avLst>
          </a:prstGeom>
          <a:solidFill>
            <a:srgbClr val="DFB8BC"/>
          </a:solidFill>
          <a:ln/>
        </p:spPr>
      </p:sp>
      <p:sp>
        <p:nvSpPr>
          <p:cNvPr id="18" name="Shape 15"/>
          <p:cNvSpPr/>
          <p:nvPr/>
        </p:nvSpPr>
        <p:spPr>
          <a:xfrm>
            <a:off x="10548640" y="3616762"/>
            <a:ext cx="270391" cy="270391"/>
          </a:xfrm>
          <a:prstGeom prst="roundRect">
            <a:avLst>
              <a:gd name="adj" fmla="val 18674"/>
            </a:avLst>
          </a:prstGeom>
          <a:solidFill>
            <a:srgbClr val="F9D2D6"/>
          </a:solidFill>
          <a:ln w="7620">
            <a:solidFill>
              <a:srgbClr val="DFB8BC"/>
            </a:solidFill>
            <a:prstDash val="solid"/>
          </a:ln>
        </p:spPr>
      </p:sp>
      <p:sp>
        <p:nvSpPr>
          <p:cNvPr id="19" name="Text 16"/>
          <p:cNvSpPr/>
          <p:nvPr/>
        </p:nvSpPr>
        <p:spPr>
          <a:xfrm>
            <a:off x="10588883" y="3633311"/>
            <a:ext cx="189786" cy="237173"/>
          </a:xfrm>
          <a:prstGeom prst="rect">
            <a:avLst/>
          </a:prstGeom>
          <a:noFill/>
          <a:ln/>
        </p:spPr>
        <p:txBody>
          <a:bodyPr wrap="none" lIns="0" tIns="0" rIns="0" bIns="0" rtlCol="0" anchor="t"/>
          <a:lstStyle/>
          <a:p>
            <a:pPr marL="0" indent="0" algn="ctr">
              <a:lnSpc>
                <a:spcPts val="1450"/>
              </a:lnSpc>
              <a:buNone/>
            </a:pPr>
            <a:r>
              <a:rPr lang="en-US" sz="1450" dirty="0">
                <a:solidFill>
                  <a:srgbClr val="3B3535"/>
                </a:solidFill>
                <a:ea typeface="Sora Semi Bold" pitchFamily="34" charset="-122"/>
                <a:cs typeface="Sora Semi Bold" pitchFamily="34" charset="-120"/>
              </a:rPr>
              <a:t>3</a:t>
            </a:r>
            <a:endParaRPr lang="en-US" sz="1450" dirty="0"/>
          </a:p>
        </p:txBody>
      </p:sp>
      <p:sp>
        <p:nvSpPr>
          <p:cNvPr id="20" name="Text 17"/>
          <p:cNvSpPr/>
          <p:nvPr/>
        </p:nvSpPr>
        <p:spPr>
          <a:xfrm>
            <a:off x="8378785" y="3658076"/>
            <a:ext cx="1704023" cy="197763"/>
          </a:xfrm>
          <a:prstGeom prst="rect">
            <a:avLst/>
          </a:prstGeom>
          <a:noFill/>
          <a:ln/>
        </p:spPr>
        <p:txBody>
          <a:bodyPr wrap="none" lIns="0" tIns="0" rIns="0" bIns="0" rtlCol="0" anchor="t"/>
          <a:lstStyle/>
          <a:p>
            <a:pPr marL="0" indent="0" algn="r">
              <a:lnSpc>
                <a:spcPts val="1550"/>
              </a:lnSpc>
              <a:buNone/>
            </a:pPr>
            <a:r>
              <a:rPr lang="en-US" sz="1200" dirty="0">
                <a:solidFill>
                  <a:srgbClr val="3B3535"/>
                </a:solidFill>
                <a:ea typeface="Sora Semi Bold" pitchFamily="34" charset="-122"/>
                <a:cs typeface="Sora Semi Bold" pitchFamily="34" charset="-120"/>
              </a:rPr>
              <a:t>Evening (6pm-10pm)</a:t>
            </a:r>
            <a:endParaRPr lang="en-US" sz="1200" dirty="0"/>
          </a:p>
        </p:txBody>
      </p:sp>
      <p:sp>
        <p:nvSpPr>
          <p:cNvPr id="21" name="Text 18"/>
          <p:cNvSpPr/>
          <p:nvPr/>
        </p:nvSpPr>
        <p:spPr>
          <a:xfrm>
            <a:off x="7469386" y="3975973"/>
            <a:ext cx="2613422" cy="769620"/>
          </a:xfrm>
          <a:prstGeom prst="rect">
            <a:avLst/>
          </a:prstGeom>
          <a:noFill/>
          <a:ln/>
        </p:spPr>
        <p:txBody>
          <a:bodyPr wrap="square" lIns="0" tIns="0" rIns="0" bIns="0" rtlCol="0" anchor="t"/>
          <a:lstStyle/>
          <a:p>
            <a:pPr marL="0" indent="0" algn="r">
              <a:lnSpc>
                <a:spcPts val="1500"/>
              </a:lnSpc>
              <a:buNone/>
            </a:pPr>
            <a:r>
              <a:rPr lang="en-US" sz="900" dirty="0">
                <a:solidFill>
                  <a:srgbClr val="3B3535"/>
                </a:solidFill>
                <a:ea typeface="Sora Light" pitchFamily="34" charset="-122"/>
                <a:cs typeface="Sora Light" pitchFamily="34" charset="-120"/>
              </a:rPr>
              <a:t>Primary viewing window with peak concurrent users, highest quality streaming demands, and family viewing patterns</a:t>
            </a:r>
            <a:endParaRPr lang="en-US" sz="900" dirty="0"/>
          </a:p>
        </p:txBody>
      </p:sp>
      <p:sp>
        <p:nvSpPr>
          <p:cNvPr id="22" name="Shape 19"/>
          <p:cNvSpPr/>
          <p:nvPr/>
        </p:nvSpPr>
        <p:spPr>
          <a:xfrm>
            <a:off x="10803791" y="4428887"/>
            <a:ext cx="360640" cy="15240"/>
          </a:xfrm>
          <a:prstGeom prst="roundRect">
            <a:avLst>
              <a:gd name="adj" fmla="val 331318"/>
            </a:avLst>
          </a:prstGeom>
          <a:solidFill>
            <a:srgbClr val="DFB8BC"/>
          </a:solidFill>
          <a:ln/>
        </p:spPr>
      </p:sp>
      <p:sp>
        <p:nvSpPr>
          <p:cNvPr id="23" name="Shape 20"/>
          <p:cNvSpPr/>
          <p:nvPr/>
        </p:nvSpPr>
        <p:spPr>
          <a:xfrm>
            <a:off x="10548640" y="4301371"/>
            <a:ext cx="270391" cy="270391"/>
          </a:xfrm>
          <a:prstGeom prst="roundRect">
            <a:avLst>
              <a:gd name="adj" fmla="val 18674"/>
            </a:avLst>
          </a:prstGeom>
          <a:solidFill>
            <a:srgbClr val="F9D2D6"/>
          </a:solidFill>
          <a:ln w="7620">
            <a:solidFill>
              <a:srgbClr val="DFB8BC"/>
            </a:solidFill>
            <a:prstDash val="solid"/>
          </a:ln>
        </p:spPr>
      </p:sp>
      <p:sp>
        <p:nvSpPr>
          <p:cNvPr id="24" name="Text 21"/>
          <p:cNvSpPr/>
          <p:nvPr/>
        </p:nvSpPr>
        <p:spPr>
          <a:xfrm>
            <a:off x="10588883" y="4317921"/>
            <a:ext cx="189786" cy="237173"/>
          </a:xfrm>
          <a:prstGeom prst="rect">
            <a:avLst/>
          </a:prstGeom>
          <a:noFill/>
          <a:ln/>
        </p:spPr>
        <p:txBody>
          <a:bodyPr wrap="none" lIns="0" tIns="0" rIns="0" bIns="0" rtlCol="0" anchor="t"/>
          <a:lstStyle/>
          <a:p>
            <a:pPr marL="0" indent="0" algn="ctr">
              <a:lnSpc>
                <a:spcPts val="1450"/>
              </a:lnSpc>
              <a:buNone/>
            </a:pPr>
            <a:r>
              <a:rPr lang="en-US" sz="1450" dirty="0">
                <a:solidFill>
                  <a:srgbClr val="3B3535"/>
                </a:solidFill>
                <a:ea typeface="Sora Semi Bold" pitchFamily="34" charset="-122"/>
                <a:cs typeface="Sora Semi Bold" pitchFamily="34" charset="-120"/>
              </a:rPr>
              <a:t>4</a:t>
            </a:r>
            <a:endParaRPr lang="en-US" sz="1450" dirty="0"/>
          </a:p>
        </p:txBody>
      </p:sp>
      <p:sp>
        <p:nvSpPr>
          <p:cNvPr id="25" name="Text 22"/>
          <p:cNvSpPr/>
          <p:nvPr/>
        </p:nvSpPr>
        <p:spPr>
          <a:xfrm>
            <a:off x="11284863" y="4342686"/>
            <a:ext cx="1879521" cy="197763"/>
          </a:xfrm>
          <a:prstGeom prst="rect">
            <a:avLst/>
          </a:prstGeom>
          <a:noFill/>
          <a:ln/>
        </p:spPr>
        <p:txBody>
          <a:bodyPr wrap="none" lIns="0" tIns="0" rIns="0" bIns="0" rtlCol="0" anchor="t"/>
          <a:lstStyle/>
          <a:p>
            <a:pPr marL="0" indent="0" algn="l">
              <a:lnSpc>
                <a:spcPts val="1550"/>
              </a:lnSpc>
              <a:buNone/>
            </a:pPr>
            <a:r>
              <a:rPr lang="en-US" sz="1200" dirty="0">
                <a:solidFill>
                  <a:srgbClr val="3B3535"/>
                </a:solidFill>
                <a:ea typeface="Sora Semi Bold" pitchFamily="34" charset="-122"/>
                <a:cs typeface="Sora Semi Bold" pitchFamily="34" charset="-120"/>
              </a:rPr>
              <a:t>Late Night (10pm-2am)</a:t>
            </a:r>
            <a:endParaRPr lang="en-US" sz="1200" dirty="0"/>
          </a:p>
        </p:txBody>
      </p:sp>
      <p:sp>
        <p:nvSpPr>
          <p:cNvPr id="26" name="Text 23"/>
          <p:cNvSpPr/>
          <p:nvPr/>
        </p:nvSpPr>
        <p:spPr>
          <a:xfrm>
            <a:off x="11284863" y="4660582"/>
            <a:ext cx="2613422" cy="577215"/>
          </a:xfrm>
          <a:prstGeom prst="rect">
            <a:avLst/>
          </a:prstGeom>
          <a:noFill/>
          <a:ln/>
        </p:spPr>
        <p:txBody>
          <a:bodyPr wrap="square" lIns="0" tIns="0" rIns="0" bIns="0" rtlCol="0" anchor="t"/>
          <a:lstStyle/>
          <a:p>
            <a:pPr marL="0" indent="0" algn="l">
              <a:lnSpc>
                <a:spcPts val="1500"/>
              </a:lnSpc>
              <a:buNone/>
            </a:pPr>
            <a:r>
              <a:rPr lang="en-US" sz="900" dirty="0">
                <a:solidFill>
                  <a:srgbClr val="3B3535"/>
                </a:solidFill>
                <a:ea typeface="Sora Light" pitchFamily="34" charset="-122"/>
                <a:cs typeface="Sora Light" pitchFamily="34" charset="-120"/>
              </a:rPr>
              <a:t>Secondary peak among younger demographics, binge-watching behavior, individual rather than shared viewing</a:t>
            </a:r>
            <a:endParaRPr lang="en-US" sz="900" dirty="0"/>
          </a:p>
        </p:txBody>
      </p:sp>
      <p:sp>
        <p:nvSpPr>
          <p:cNvPr id="27" name="Text 24"/>
          <p:cNvSpPr/>
          <p:nvPr/>
        </p:nvSpPr>
        <p:spPr>
          <a:xfrm>
            <a:off x="739735" y="5682734"/>
            <a:ext cx="2205395" cy="237173"/>
          </a:xfrm>
          <a:prstGeom prst="rect">
            <a:avLst/>
          </a:prstGeom>
          <a:noFill/>
          <a:ln/>
        </p:spPr>
        <p:txBody>
          <a:bodyPr wrap="none" lIns="0" tIns="0" rIns="0" bIns="0" rtlCol="0" anchor="t"/>
          <a:lstStyle/>
          <a:p>
            <a:pPr marL="0" indent="0" algn="l">
              <a:lnSpc>
                <a:spcPts val="1850"/>
              </a:lnSpc>
              <a:buNone/>
            </a:pPr>
            <a:r>
              <a:rPr lang="en-US" sz="1450" dirty="0">
                <a:solidFill>
                  <a:srgbClr val="1F1E1E"/>
                </a:solidFill>
                <a:ea typeface="Sora Semi Bold" pitchFamily="34" charset="-122"/>
                <a:cs typeface="Sora Semi Bold" pitchFamily="34" charset="-120"/>
              </a:rPr>
              <a:t>Strategic Applications</a:t>
            </a:r>
            <a:endParaRPr lang="en-US" sz="1450" dirty="0"/>
          </a:p>
        </p:txBody>
      </p:sp>
      <p:sp>
        <p:nvSpPr>
          <p:cNvPr id="28" name="Shape 25"/>
          <p:cNvSpPr/>
          <p:nvPr/>
        </p:nvSpPr>
        <p:spPr>
          <a:xfrm>
            <a:off x="739735" y="6100167"/>
            <a:ext cx="4303514" cy="1294924"/>
          </a:xfrm>
          <a:prstGeom prst="roundRect">
            <a:avLst>
              <a:gd name="adj" fmla="val 3899"/>
            </a:avLst>
          </a:prstGeom>
          <a:solidFill>
            <a:srgbClr val="F9D2D6"/>
          </a:solidFill>
          <a:ln w="7620">
            <a:solidFill>
              <a:srgbClr val="DFB8BC"/>
            </a:solidFill>
            <a:prstDash val="solid"/>
          </a:ln>
        </p:spPr>
      </p:sp>
      <p:sp>
        <p:nvSpPr>
          <p:cNvPr id="29" name="Text 26"/>
          <p:cNvSpPr/>
          <p:nvPr/>
        </p:nvSpPr>
        <p:spPr>
          <a:xfrm>
            <a:off x="867489" y="6227921"/>
            <a:ext cx="1934408" cy="197763"/>
          </a:xfrm>
          <a:prstGeom prst="rect">
            <a:avLst/>
          </a:prstGeom>
          <a:noFill/>
          <a:ln/>
        </p:spPr>
        <p:txBody>
          <a:bodyPr wrap="none" lIns="0" tIns="0" rIns="0" bIns="0" rtlCol="0" anchor="t"/>
          <a:lstStyle/>
          <a:p>
            <a:pPr marL="0" indent="0" algn="l">
              <a:lnSpc>
                <a:spcPts val="1550"/>
              </a:lnSpc>
              <a:buNone/>
            </a:pPr>
            <a:r>
              <a:rPr lang="en-US" sz="1200" dirty="0">
                <a:solidFill>
                  <a:srgbClr val="3B3535"/>
                </a:solidFill>
                <a:ea typeface="Sora Semi Bold" pitchFamily="34" charset="-122"/>
                <a:cs typeface="Sora Semi Bold" pitchFamily="34" charset="-120"/>
              </a:rPr>
              <a:t>Content Release Timing</a:t>
            </a:r>
            <a:endParaRPr lang="en-US" sz="1200" dirty="0"/>
          </a:p>
        </p:txBody>
      </p:sp>
      <p:sp>
        <p:nvSpPr>
          <p:cNvPr id="30" name="Text 27"/>
          <p:cNvSpPr/>
          <p:nvPr/>
        </p:nvSpPr>
        <p:spPr>
          <a:xfrm>
            <a:off x="867489" y="6497717"/>
            <a:ext cx="4048006" cy="769620"/>
          </a:xfrm>
          <a:prstGeom prst="rect">
            <a:avLst/>
          </a:prstGeom>
          <a:noFill/>
          <a:ln/>
        </p:spPr>
        <p:txBody>
          <a:bodyPr wrap="square" lIns="0" tIns="0" rIns="0" bIns="0" rtlCol="0" anchor="t"/>
          <a:lstStyle/>
          <a:p>
            <a:pPr marL="0" indent="0" algn="l">
              <a:lnSpc>
                <a:spcPts val="1500"/>
              </a:lnSpc>
              <a:buNone/>
            </a:pPr>
            <a:r>
              <a:rPr lang="en-US" sz="900" dirty="0">
                <a:solidFill>
                  <a:srgbClr val="3B3535"/>
                </a:solidFill>
                <a:ea typeface="Sora Light" pitchFamily="34" charset="-122"/>
                <a:cs typeface="Sora Light" pitchFamily="34" charset="-120"/>
              </a:rPr>
              <a:t>New releases should be scheduled before evening peak to maximize day-one engagement and social media discussion during high-traffic periods. Major originals benefit from weekend late-night releases targeting binge viewers.</a:t>
            </a:r>
            <a:endParaRPr lang="en-US" sz="900" dirty="0"/>
          </a:p>
        </p:txBody>
      </p:sp>
      <p:sp>
        <p:nvSpPr>
          <p:cNvPr id="31" name="Shape 28"/>
          <p:cNvSpPr/>
          <p:nvPr/>
        </p:nvSpPr>
        <p:spPr>
          <a:xfrm>
            <a:off x="5163383" y="6100167"/>
            <a:ext cx="4303514" cy="1294924"/>
          </a:xfrm>
          <a:prstGeom prst="roundRect">
            <a:avLst>
              <a:gd name="adj" fmla="val 3899"/>
            </a:avLst>
          </a:prstGeom>
          <a:solidFill>
            <a:srgbClr val="F9D2D6"/>
          </a:solidFill>
          <a:ln w="7620">
            <a:solidFill>
              <a:srgbClr val="DFB8BC"/>
            </a:solidFill>
            <a:prstDash val="solid"/>
          </a:ln>
        </p:spPr>
      </p:sp>
      <p:sp>
        <p:nvSpPr>
          <p:cNvPr id="32" name="Text 29"/>
          <p:cNvSpPr/>
          <p:nvPr/>
        </p:nvSpPr>
        <p:spPr>
          <a:xfrm>
            <a:off x="5291138" y="6227921"/>
            <a:ext cx="1869400" cy="197763"/>
          </a:xfrm>
          <a:prstGeom prst="rect">
            <a:avLst/>
          </a:prstGeom>
          <a:noFill/>
          <a:ln/>
        </p:spPr>
        <p:txBody>
          <a:bodyPr wrap="none" lIns="0" tIns="0" rIns="0" bIns="0" rtlCol="0" anchor="t"/>
          <a:lstStyle/>
          <a:p>
            <a:pPr marL="0" indent="0" algn="l">
              <a:lnSpc>
                <a:spcPts val="1550"/>
              </a:lnSpc>
              <a:buNone/>
            </a:pPr>
            <a:r>
              <a:rPr lang="en-US" sz="1200" dirty="0">
                <a:solidFill>
                  <a:srgbClr val="3B3535"/>
                </a:solidFill>
                <a:ea typeface="Sora Semi Bold" pitchFamily="34" charset="-122"/>
                <a:cs typeface="Sora Semi Bold" pitchFamily="34" charset="-120"/>
              </a:rPr>
              <a:t>Infrastructure Planning</a:t>
            </a:r>
            <a:endParaRPr lang="en-US" sz="1200" dirty="0"/>
          </a:p>
        </p:txBody>
      </p:sp>
      <p:sp>
        <p:nvSpPr>
          <p:cNvPr id="33" name="Text 30"/>
          <p:cNvSpPr/>
          <p:nvPr/>
        </p:nvSpPr>
        <p:spPr>
          <a:xfrm>
            <a:off x="5291138" y="6497717"/>
            <a:ext cx="4048006" cy="769620"/>
          </a:xfrm>
          <a:prstGeom prst="rect">
            <a:avLst/>
          </a:prstGeom>
          <a:noFill/>
          <a:ln/>
        </p:spPr>
        <p:txBody>
          <a:bodyPr wrap="square" lIns="0" tIns="0" rIns="0" bIns="0" rtlCol="0" anchor="t"/>
          <a:lstStyle/>
          <a:p>
            <a:pPr marL="0" indent="0" algn="l">
              <a:lnSpc>
                <a:spcPts val="1500"/>
              </a:lnSpc>
              <a:buNone/>
            </a:pPr>
            <a:r>
              <a:rPr lang="en-US" sz="900" dirty="0">
                <a:solidFill>
                  <a:srgbClr val="3B3535"/>
                </a:solidFill>
                <a:ea typeface="Sora Light" pitchFamily="34" charset="-122"/>
                <a:cs typeface="Sora Light" pitchFamily="34" charset="-120"/>
              </a:rPr>
              <a:t>CDN capacity and server resources must be scaled to handle evening concurrent stream peaks without quality degradation. Proactive capacity monitoring prevents buffer rate increases during high-demand windows.</a:t>
            </a:r>
            <a:endParaRPr lang="en-US" sz="900" dirty="0"/>
          </a:p>
        </p:txBody>
      </p:sp>
      <p:sp>
        <p:nvSpPr>
          <p:cNvPr id="34" name="Shape 31"/>
          <p:cNvSpPr/>
          <p:nvPr/>
        </p:nvSpPr>
        <p:spPr>
          <a:xfrm>
            <a:off x="9587032" y="6100167"/>
            <a:ext cx="4303514" cy="1294924"/>
          </a:xfrm>
          <a:prstGeom prst="roundRect">
            <a:avLst>
              <a:gd name="adj" fmla="val 3899"/>
            </a:avLst>
          </a:prstGeom>
          <a:solidFill>
            <a:srgbClr val="F9D2D6"/>
          </a:solidFill>
          <a:ln w="7620">
            <a:solidFill>
              <a:srgbClr val="DFB8BC"/>
            </a:solidFill>
            <a:prstDash val="solid"/>
          </a:ln>
        </p:spPr>
      </p:sp>
      <p:sp>
        <p:nvSpPr>
          <p:cNvPr id="35" name="Text 32"/>
          <p:cNvSpPr/>
          <p:nvPr/>
        </p:nvSpPr>
        <p:spPr>
          <a:xfrm>
            <a:off x="9714786" y="6227921"/>
            <a:ext cx="2270165" cy="197763"/>
          </a:xfrm>
          <a:prstGeom prst="rect">
            <a:avLst/>
          </a:prstGeom>
          <a:noFill/>
          <a:ln/>
        </p:spPr>
        <p:txBody>
          <a:bodyPr wrap="none" lIns="0" tIns="0" rIns="0" bIns="0" rtlCol="0" anchor="t"/>
          <a:lstStyle/>
          <a:p>
            <a:pPr marL="0" indent="0" algn="l">
              <a:lnSpc>
                <a:spcPts val="1550"/>
              </a:lnSpc>
              <a:buNone/>
            </a:pPr>
            <a:r>
              <a:rPr lang="en-US" sz="1200" dirty="0">
                <a:solidFill>
                  <a:srgbClr val="3B3535"/>
                </a:solidFill>
                <a:ea typeface="Sora Semi Bold" pitchFamily="34" charset="-122"/>
                <a:cs typeface="Sora Semi Bold" pitchFamily="34" charset="-120"/>
              </a:rPr>
              <a:t>Marketing Communications</a:t>
            </a:r>
            <a:endParaRPr lang="en-US" sz="1200" dirty="0"/>
          </a:p>
        </p:txBody>
      </p:sp>
      <p:sp>
        <p:nvSpPr>
          <p:cNvPr id="36" name="Text 33"/>
          <p:cNvSpPr/>
          <p:nvPr/>
        </p:nvSpPr>
        <p:spPr>
          <a:xfrm>
            <a:off x="9714786" y="6497717"/>
            <a:ext cx="4048006" cy="769620"/>
          </a:xfrm>
          <a:prstGeom prst="rect">
            <a:avLst/>
          </a:prstGeom>
          <a:noFill/>
          <a:ln/>
        </p:spPr>
        <p:txBody>
          <a:bodyPr wrap="square" lIns="0" tIns="0" rIns="0" bIns="0" rtlCol="0" anchor="t"/>
          <a:lstStyle/>
          <a:p>
            <a:pPr marL="0" indent="0" algn="l">
              <a:lnSpc>
                <a:spcPts val="1500"/>
              </a:lnSpc>
              <a:buNone/>
            </a:pPr>
            <a:r>
              <a:rPr lang="en-US" sz="900" dirty="0">
                <a:solidFill>
                  <a:srgbClr val="3B3535"/>
                </a:solidFill>
                <a:ea typeface="Sora Light" pitchFamily="34" charset="-122"/>
                <a:cs typeface="Sora Light" pitchFamily="34" charset="-120"/>
              </a:rPr>
              <a:t>Email campaigns and push notifications should be timed for afternoon delivery, positioning content recommendations just before evening viewing decisions. Social media engagement peaks align with viewing patterns.</a:t>
            </a:r>
            <a:endParaRPr lang="en-US" sz="900" dirty="0"/>
          </a:p>
        </p:txBody>
      </p:sp>
      <p:sp>
        <p:nvSpPr>
          <p:cNvPr id="37" name="Text 34"/>
          <p:cNvSpPr/>
          <p:nvPr/>
        </p:nvSpPr>
        <p:spPr>
          <a:xfrm>
            <a:off x="739735" y="7530227"/>
            <a:ext cx="13150929" cy="192405"/>
          </a:xfrm>
          <a:prstGeom prst="rect">
            <a:avLst/>
          </a:prstGeom>
          <a:noFill/>
          <a:ln/>
        </p:spPr>
        <p:txBody>
          <a:bodyPr wrap="none" lIns="0" tIns="0" rIns="0" bIns="0" rtlCol="0" anchor="t"/>
          <a:lstStyle/>
          <a:p>
            <a:pPr marL="0" indent="0" algn="l">
              <a:lnSpc>
                <a:spcPts val="1500"/>
              </a:lnSpc>
              <a:buNone/>
            </a:pPr>
            <a:r>
              <a:rPr lang="en-US" sz="900" dirty="0">
                <a:solidFill>
                  <a:srgbClr val="3B3535"/>
                </a:solidFill>
                <a:ea typeface="Sora Light" pitchFamily="34" charset="-122"/>
                <a:cs typeface="Sora Light" pitchFamily="34" charset="-120"/>
              </a:rPr>
              <a:t>These temporal patterns also inform customer support staffing models, with evening availability critical for addressing streaming issues when they have the greatest impact on user experience and satisfaction.</a:t>
            </a:r>
            <a:endParaRPr lang="en-US" sz="900" dirty="0"/>
          </a:p>
        </p:txBody>
      </p:sp>
      <p:graphicFrame>
        <p:nvGraphicFramePr>
          <p:cNvPr id="38" name="Chart 37">
            <a:extLst>
              <a:ext uri="{FF2B5EF4-FFF2-40B4-BE49-F238E27FC236}">
                <a16:creationId xmlns:a16="http://schemas.microsoft.com/office/drawing/2014/main" id="{6F9E8B78-84C3-8DDE-0911-175FB360976F}"/>
              </a:ext>
            </a:extLst>
          </p:cNvPr>
          <p:cNvGraphicFramePr>
            <a:graphicFrameLocks/>
          </p:cNvGraphicFramePr>
          <p:nvPr>
            <p:extLst>
              <p:ext uri="{D42A27DB-BD31-4B8C-83A1-F6EECF244321}">
                <p14:modId xmlns:p14="http://schemas.microsoft.com/office/powerpoint/2010/main" val="3134096970"/>
              </p:ext>
            </p:extLst>
          </p:nvPr>
        </p:nvGraphicFramePr>
        <p:xfrm>
          <a:off x="1177041" y="1727879"/>
          <a:ext cx="4471919" cy="3093362"/>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335CD50-BF2E-D22B-EA55-DF819F3C746C}"/>
              </a:ext>
            </a:extLst>
          </p:cNvPr>
          <p:cNvSpPr/>
          <p:nvPr/>
        </p:nvSpPr>
        <p:spPr>
          <a:xfrm>
            <a:off x="758309" y="727115"/>
            <a:ext cx="3468410" cy="405408"/>
          </a:xfrm>
          <a:prstGeom prst="rect">
            <a:avLst/>
          </a:prstGeom>
          <a:noFill/>
          <a:ln/>
        </p:spPr>
        <p:txBody>
          <a:bodyPr wrap="none" lIns="0" tIns="0" rIns="0" bIns="0" rtlCol="0" anchor="t"/>
          <a:lstStyle/>
          <a:p>
            <a:pPr>
              <a:lnSpc>
                <a:spcPts val="3150"/>
              </a:lnSpc>
            </a:pPr>
            <a:r>
              <a:rPr lang="en-US" sz="2550" dirty="0">
                <a:solidFill>
                  <a:srgbClr val="1F1E1E"/>
                </a:solidFill>
                <a:ea typeface="Sora Semi Bold" pitchFamily="34" charset="-122"/>
                <a:cs typeface="Sora Semi Bold" pitchFamily="34" charset="-120"/>
              </a:rPr>
              <a:t>Retention &amp; Loyalty</a:t>
            </a:r>
            <a:endParaRPr lang="en-US" sz="2550" dirty="0"/>
          </a:p>
        </p:txBody>
      </p:sp>
      <p:sp>
        <p:nvSpPr>
          <p:cNvPr id="3" name="Text 1">
            <a:extLst>
              <a:ext uri="{FF2B5EF4-FFF2-40B4-BE49-F238E27FC236}">
                <a16:creationId xmlns:a16="http://schemas.microsoft.com/office/drawing/2014/main" id="{49023D13-0B14-1281-3E47-CC8946B0DC2D}"/>
              </a:ext>
            </a:extLst>
          </p:cNvPr>
          <p:cNvSpPr/>
          <p:nvPr/>
        </p:nvSpPr>
        <p:spPr>
          <a:xfrm>
            <a:off x="8143756" y="1440418"/>
            <a:ext cx="2508409" cy="243126"/>
          </a:xfrm>
          <a:prstGeom prst="rect">
            <a:avLst/>
          </a:prstGeom>
          <a:noFill/>
          <a:ln/>
        </p:spPr>
        <p:txBody>
          <a:bodyPr wrap="none" lIns="0" tIns="0" rIns="0" bIns="0" rtlCol="0" anchor="t"/>
          <a:lstStyle/>
          <a:p>
            <a:pPr marL="0" indent="0" algn="l">
              <a:lnSpc>
                <a:spcPts val="1900"/>
              </a:lnSpc>
              <a:buNone/>
            </a:pPr>
            <a:r>
              <a:rPr lang="en-US" sz="1500" dirty="0">
                <a:solidFill>
                  <a:srgbClr val="1F1E1E"/>
                </a:solidFill>
                <a:ea typeface="Sora Semi Bold" pitchFamily="34" charset="-122"/>
                <a:cs typeface="Sora Semi Bold" pitchFamily="34" charset="-120"/>
              </a:rPr>
              <a:t>Key Observations:</a:t>
            </a:r>
            <a:endParaRPr lang="en-US" sz="1500" dirty="0"/>
          </a:p>
        </p:txBody>
      </p:sp>
      <p:sp>
        <p:nvSpPr>
          <p:cNvPr id="4" name="Text 2">
            <a:extLst>
              <a:ext uri="{FF2B5EF4-FFF2-40B4-BE49-F238E27FC236}">
                <a16:creationId xmlns:a16="http://schemas.microsoft.com/office/drawing/2014/main" id="{12CE879A-F4DF-5477-CC56-FE31EC67B665}"/>
              </a:ext>
            </a:extLst>
          </p:cNvPr>
          <p:cNvSpPr/>
          <p:nvPr/>
        </p:nvSpPr>
        <p:spPr>
          <a:xfrm>
            <a:off x="8143756" y="1806654"/>
            <a:ext cx="5735836" cy="591503"/>
          </a:xfrm>
          <a:prstGeom prst="rect">
            <a:avLst/>
          </a:prstGeom>
          <a:noFill/>
          <a:ln/>
        </p:spPr>
        <p:txBody>
          <a:bodyPr wrap="square" lIns="0" tIns="0" rIns="0" bIns="0" rtlCol="0" anchor="t"/>
          <a:lstStyle/>
          <a:p>
            <a:pPr marL="171450" indent="-171450">
              <a:lnSpc>
                <a:spcPts val="1550"/>
              </a:lnSpc>
              <a:buFont typeface="Arial" panose="020B0604020202020204" pitchFamily="34" charset="0"/>
              <a:buChar char="•"/>
            </a:pPr>
            <a:r>
              <a:rPr lang="en-US" sz="1200" dirty="0"/>
              <a:t>Active users likely download more and log in frequently.</a:t>
            </a:r>
          </a:p>
          <a:p>
            <a:pPr marL="171450" indent="-171450">
              <a:lnSpc>
                <a:spcPts val="1550"/>
              </a:lnSpc>
              <a:buFont typeface="Arial" panose="020B0604020202020204" pitchFamily="34" charset="0"/>
              <a:buChar char="•"/>
            </a:pPr>
            <a:r>
              <a:rPr lang="en-US" sz="1200" dirty="0"/>
              <a:t>High loyalty correlates with engagement</a:t>
            </a:r>
          </a:p>
        </p:txBody>
      </p:sp>
      <p:sp>
        <p:nvSpPr>
          <p:cNvPr id="20" name="Text 18">
            <a:extLst>
              <a:ext uri="{FF2B5EF4-FFF2-40B4-BE49-F238E27FC236}">
                <a16:creationId xmlns:a16="http://schemas.microsoft.com/office/drawing/2014/main" id="{C8FD144A-45A9-5282-78DA-1DACD0405B22}"/>
              </a:ext>
            </a:extLst>
          </p:cNvPr>
          <p:cNvSpPr/>
          <p:nvPr/>
        </p:nvSpPr>
        <p:spPr>
          <a:xfrm>
            <a:off x="758309" y="5983724"/>
            <a:ext cx="13113782" cy="985837"/>
          </a:xfrm>
          <a:prstGeom prst="rect">
            <a:avLst/>
          </a:prstGeom>
          <a:noFill/>
          <a:ln/>
        </p:spPr>
        <p:txBody>
          <a:bodyPr wrap="square" lIns="0" tIns="0" rIns="0" bIns="0" rtlCol="0" anchor="t"/>
          <a:lstStyle/>
          <a:p>
            <a:pPr marL="0" indent="0" algn="l">
              <a:lnSpc>
                <a:spcPts val="1550"/>
              </a:lnSpc>
              <a:buNone/>
            </a:pPr>
            <a:endParaRPr lang="en-US" sz="950" dirty="0"/>
          </a:p>
        </p:txBody>
      </p:sp>
      <p:sp>
        <p:nvSpPr>
          <p:cNvPr id="21" name="Text 19">
            <a:extLst>
              <a:ext uri="{FF2B5EF4-FFF2-40B4-BE49-F238E27FC236}">
                <a16:creationId xmlns:a16="http://schemas.microsoft.com/office/drawing/2014/main" id="{9E4DF2AE-54B5-CF0B-C0E5-B02E7E019376}"/>
              </a:ext>
            </a:extLst>
          </p:cNvPr>
          <p:cNvSpPr/>
          <p:nvPr/>
        </p:nvSpPr>
        <p:spPr>
          <a:xfrm>
            <a:off x="758309" y="7108150"/>
            <a:ext cx="13113782" cy="394335"/>
          </a:xfrm>
          <a:prstGeom prst="rect">
            <a:avLst/>
          </a:prstGeom>
          <a:noFill/>
          <a:ln/>
        </p:spPr>
        <p:txBody>
          <a:bodyPr wrap="square" lIns="0" tIns="0" rIns="0" bIns="0" rtlCol="0" anchor="t"/>
          <a:lstStyle/>
          <a:p>
            <a:pPr marL="0" indent="0" algn="l">
              <a:lnSpc>
                <a:spcPts val="1550"/>
              </a:lnSpc>
              <a:buNone/>
            </a:pPr>
            <a:endParaRPr lang="en-US" sz="950" dirty="0"/>
          </a:p>
        </p:txBody>
      </p:sp>
      <p:graphicFrame>
        <p:nvGraphicFramePr>
          <p:cNvPr id="24" name="Chart 23">
            <a:extLst>
              <a:ext uri="{FF2B5EF4-FFF2-40B4-BE49-F238E27FC236}">
                <a16:creationId xmlns:a16="http://schemas.microsoft.com/office/drawing/2014/main" id="{9181A584-194D-2F42-922A-6DCD6F6FBAEF}"/>
              </a:ext>
            </a:extLst>
          </p:cNvPr>
          <p:cNvGraphicFramePr>
            <a:graphicFrameLocks/>
          </p:cNvGraphicFramePr>
          <p:nvPr>
            <p:extLst>
              <p:ext uri="{D42A27DB-BD31-4B8C-83A1-F6EECF244321}">
                <p14:modId xmlns:p14="http://schemas.microsoft.com/office/powerpoint/2010/main" val="1943580008"/>
              </p:ext>
            </p:extLst>
          </p:nvPr>
        </p:nvGraphicFramePr>
        <p:xfrm>
          <a:off x="484487" y="1241906"/>
          <a:ext cx="4016054" cy="218721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5" name="Chart 24">
            <a:extLst>
              <a:ext uri="{FF2B5EF4-FFF2-40B4-BE49-F238E27FC236}">
                <a16:creationId xmlns:a16="http://schemas.microsoft.com/office/drawing/2014/main" id="{C3715AAF-8E74-A69D-7340-1AAACCABD6C1}"/>
              </a:ext>
            </a:extLst>
          </p:cNvPr>
          <p:cNvGraphicFramePr>
            <a:graphicFrameLocks/>
          </p:cNvGraphicFramePr>
          <p:nvPr>
            <p:extLst>
              <p:ext uri="{D42A27DB-BD31-4B8C-83A1-F6EECF244321}">
                <p14:modId xmlns:p14="http://schemas.microsoft.com/office/powerpoint/2010/main" val="3544991000"/>
              </p:ext>
            </p:extLst>
          </p:nvPr>
        </p:nvGraphicFramePr>
        <p:xfrm>
          <a:off x="682775" y="3494033"/>
          <a:ext cx="4624398" cy="2044635"/>
        </p:xfrm>
        <a:graphic>
          <a:graphicData uri="http://schemas.openxmlformats.org/drawingml/2006/chart">
            <c:chart xmlns:c="http://schemas.openxmlformats.org/drawingml/2006/chart" xmlns:r="http://schemas.openxmlformats.org/officeDocument/2006/relationships" r:id="rId3"/>
          </a:graphicData>
        </a:graphic>
      </p:graphicFrame>
      <mc:AlternateContent xmlns:mc="http://schemas.openxmlformats.org/markup-compatibility/2006">
        <mc:Choice xmlns:cx1="http://schemas.microsoft.com/office/drawing/2015/9/8/chartex" Requires="cx1">
          <p:graphicFrame>
            <p:nvGraphicFramePr>
              <p:cNvPr id="26" name="Chart 25">
                <a:extLst>
                  <a:ext uri="{FF2B5EF4-FFF2-40B4-BE49-F238E27FC236}">
                    <a16:creationId xmlns:a16="http://schemas.microsoft.com/office/drawing/2014/main" id="{BCFDED95-2497-4A48-A284-6DA76330CF6F}"/>
                  </a:ext>
                </a:extLst>
              </p:cNvPr>
              <p:cNvGraphicFramePr/>
              <p:nvPr>
                <p:extLst>
                  <p:ext uri="{D42A27DB-BD31-4B8C-83A1-F6EECF244321}">
                    <p14:modId xmlns:p14="http://schemas.microsoft.com/office/powerpoint/2010/main" val="3457596661"/>
                  </p:ext>
                </p:extLst>
              </p:nvPr>
            </p:nvGraphicFramePr>
            <p:xfrm>
              <a:off x="758309" y="5801003"/>
              <a:ext cx="4277098" cy="2168165"/>
            </p:xfrm>
            <a:graphic>
              <a:graphicData uri="http://schemas.microsoft.com/office/drawing/2014/chartex">
                <cx:chart xmlns:cx="http://schemas.microsoft.com/office/drawing/2014/chartex" xmlns:r="http://schemas.openxmlformats.org/officeDocument/2006/relationships" r:id="rId4"/>
              </a:graphicData>
            </a:graphic>
          </p:graphicFrame>
        </mc:Choice>
        <mc:Fallback>
          <p:pic>
            <p:nvPicPr>
              <p:cNvPr id="26" name="Chart 25">
                <a:extLst>
                  <a:ext uri="{FF2B5EF4-FFF2-40B4-BE49-F238E27FC236}">
                    <a16:creationId xmlns:a16="http://schemas.microsoft.com/office/drawing/2014/main" id="{BCFDED95-2497-4A48-A284-6DA76330CF6F}"/>
                  </a:ext>
                </a:extLst>
              </p:cNvPr>
              <p:cNvPicPr>
                <a:picLocks noGrp="1" noRot="1" noChangeAspect="1" noMove="1" noResize="1" noEditPoints="1" noAdjustHandles="1" noChangeArrowheads="1" noChangeShapeType="1"/>
              </p:cNvPicPr>
              <p:nvPr/>
            </p:nvPicPr>
            <p:blipFill>
              <a:blip r:embed="rId5"/>
              <a:stretch>
                <a:fillRect/>
              </a:stretch>
            </p:blipFill>
            <p:spPr>
              <a:xfrm>
                <a:off x="758309" y="5801003"/>
                <a:ext cx="4277098" cy="2168165"/>
              </a:xfrm>
              <a:prstGeom prst="rect">
                <a:avLst/>
              </a:prstGeom>
            </p:spPr>
          </p:pic>
        </mc:Fallback>
      </mc:AlternateContent>
    </p:spTree>
    <p:extLst>
      <p:ext uri="{BB962C8B-B14F-4D97-AF65-F5344CB8AC3E}">
        <p14:creationId xmlns:p14="http://schemas.microsoft.com/office/powerpoint/2010/main" val="6630177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40</TotalTime>
  <Words>1121</Words>
  <Application>Microsoft Office PowerPoint</Application>
  <PresentationFormat>Custom</PresentationFormat>
  <Paragraphs>118</Paragraphs>
  <Slides>9</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Calibri</vt:lpstr>
      <vt:lpstr>Sora Semi Bold</vt:lpstr>
      <vt:lpstr>Sora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KIRAN PATEL</cp:lastModifiedBy>
  <cp:revision>3</cp:revision>
  <dcterms:created xsi:type="dcterms:W3CDTF">2025-11-02T18:59:42Z</dcterms:created>
  <dcterms:modified xsi:type="dcterms:W3CDTF">2025-11-02T19:40:23Z</dcterms:modified>
</cp:coreProperties>
</file>